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E91"/>
                </a:solidFill>
                <a:latin typeface="Cambria"/>
              </a:defRPr>
            </a:pPr>
            <a:r>
              <a:t>BANNARI AMMAN INSTITUTE OF TECHNOLOGY</a:t>
            </a:r>
          </a:p>
          <a:p>
            <a:pPr algn="ctr">
              <a:defRPr sz="1200">
                <a:solidFill>
                  <a:srgbClr val="141414"/>
                </a:solidFill>
                <a:latin typeface="Cambria"/>
              </a:defRPr>
            </a:pPr>
            <a:r>
              <a:t>An Autonomous Institution Affiliated to Anna University - Chennai • Approved by AICTE • Accredited by NAAC with 'A+' Grade</a:t>
            </a:r>
            <a:br/>
            <a:r>
              <a:t>SATHYAMANGALAM - 638401 ERODE DISTRICT TAMILNADU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00000"/>
                </a:solidFill>
                <a:latin typeface="Cambria"/>
              </a:defRPr>
            </a:pPr>
            <a:r>
              <a:t>Academic Year 2024 - 25</a:t>
            </a:r>
            <a:br/>
            <a:r>
              <a:t>S8 PROJECT WORK II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00"/>
                </a:solidFill>
                <a:latin typeface="Cambria"/>
              </a:defRPr>
            </a:pPr>
            <a:r>
              <a:t>PROJECT TITLE</a:t>
            </a:r>
          </a:p>
          <a:p>
            <a:pPr algn="ctr">
              <a:defRPr sz="2200" b="1">
                <a:solidFill>
                  <a:srgbClr val="1E4E91"/>
                </a:solidFill>
                <a:latin typeface="Cambria"/>
              </a:defRPr>
            </a:pPr>
            <a:r>
              <a:t>AI-POWERED AUTONOMOUS LIBRARY MANAGEMENT &amp; INTELLECTUAL KNOWLEDGE TRACKING PORTAL (LibrarySphere)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BIP PROJECT ID: 24S7INT369</a:t>
            </a:r>
          </a:p>
          <a:p>
            <a:pPr>
              <a:defRPr sz="1600" b="1">
                <a:solidFill>
                  <a:srgbClr val="800000"/>
                </a:solidFill>
                <a:latin typeface="Cambria"/>
              </a:defRPr>
            </a:pPr>
            <a:r>
              <a:t>CATEGORY: INTERNAL / OWN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8404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000"/>
                </a:solidFill>
                <a:latin typeface="Cambria"/>
              </a:defRPr>
            </a:pPr>
            <a:r>
              <a:t>BATCH MEMBERS:</a:t>
            </a:r>
          </a:p>
          <a:p>
            <a:pPr>
              <a:defRPr sz="1400">
                <a:solidFill>
                  <a:srgbClr val="660066"/>
                </a:solidFill>
                <a:latin typeface="Cambria"/>
              </a:defRPr>
            </a:pPr>
            <a:r>
              <a:t>1. YOHAN S (201ME101) — Lead Architect &amp; Backend</a:t>
            </a:r>
          </a:p>
          <a:p>
            <a:pPr>
              <a:defRPr sz="1400">
                <a:solidFill>
                  <a:srgbClr val="660066"/>
                </a:solidFill>
                <a:latin typeface="Cambria"/>
              </a:defRPr>
            </a:pPr>
            <a:r>
              <a:t>2. MAHZHIL B (201ME102) — Security &amp; E-Book Engine</a:t>
            </a:r>
          </a:p>
          <a:p>
            <a:pPr>
              <a:defRPr sz="1400">
                <a:solidFill>
                  <a:srgbClr val="660066"/>
                </a:solidFill>
                <a:latin typeface="Cambria"/>
              </a:defRPr>
            </a:pPr>
            <a:r>
              <a:t>3. VETRI D (201ME103) — AI/NLP &amp; UI/UX Specialist</a:t>
            </a:r>
          </a:p>
          <a:p>
            <a:br/>
            <a:pPr>
              <a:defRPr sz="1500" b="1">
                <a:solidFill>
                  <a:srgbClr val="1E4E91"/>
                </a:solidFill>
                <a:latin typeface="Cambria"/>
              </a:defRPr>
            </a:pPr>
            <a:r>
              <a:t>PROJECT GUIDE: Dr. RAMAN C V, Associate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3108960"/>
                <a:gridCol w="2773375"/>
              </a:tblGrid>
              <a:tr h="8077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Sl.No.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Journal Paper Title with Author (IEEE Format)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Works Carried Out (Methods/Algorithms/Tools)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Information Gathered Relevant to Project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R. Sharma et al., "Hybrid Recommendation Systems in Modern Digital Libraries Using Collaborative Filtering," IEEE Trans. Knowl. Data Eng., vol. 35, no. 4, pp. 3412–3425,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Implemented Matrix Factorization and Deep Neural Collaborative Filtering for user interest prediction.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Identified hybrid vector similarity scoring to recommend physical &amp; digital books dynamically.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J. Zhang and L. Liu, "RAG-Driven Document Discovery and Semantic Search in Large Scale Text Repositories," ACM Comput. Surv., vol. 56, no. 2, pp. 102–115, 2024.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Evaluated Chunking strategies and Vector Embeddings (BERT &amp; OpenAI Ada) with HNSW indexes.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Provided foundation for contextual e-book search directly within protected PDF content.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M. Patel and S. Kumar, "Zero-Downtime ORM Query Optimization in Enterprise Django Applications," IEEE Softw., vol. 40, no. 6, pp. 45–53,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Analyzed N+1 query patterns, select_related, and prefetch_related join optimizations.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Directly guided our database query restructuring, reducing SQL query execution count by 85%.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K. H. Chen et al., "Secure Digital Rights Management and Streamed Tokenization for PDF Assets," IEEE Trans. Inf. Forensics Security, vol. 18, pp. 890–904,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Designed tokenized transient stream endpoints to prevent raw file path exposure.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Constructed our isolated protected_ebooks/ storage architecture with UUID mapping.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E. Martinez et al., "Automated Queuing and Dynamic Allocation Algorithms in Automated Logistics," IEEE Trans. Autom. Sci. Eng., vol. 20, no. 3, pp. 1780–1792,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Modeled FIFO and priority queues with automatic timeout-based re-allocation.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Used to implement auto-allocation of returned physical books to pending reservation queues.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3108960"/>
                <a:gridCol w="2773375"/>
              </a:tblGrid>
              <a:tr h="8077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Sl.No.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Journal Paper Title with Author (IEEE Format)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Works Carried Out (Methods/Algorithms/Tools)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Information Gathered Relevant to Project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A. Al-Sultani, "Microservice vs Modular Monolith Architectures for University Library Portals," J. Syst. Softw., vol. 198, p. 111580,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Compared decoupling strategies and modular Django app encapsulation.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Validated modular architecture (accounts, catalog, circulation, ebooks, reports).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T. Nguyen et al., "PDF Text Extraction Performance: Evaluation of PyPDF, pdfplumber, and Tesseract OCR," Softw. Pract. Exp., vol. 54, no. 1, pp. 67–82, 2024.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Benchmarked CPU runtime and memory overhead of PyPDF vs OCR tools.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Justified selection of PyPDF for real-time validation and metadata parsing in e-book pipeline.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S. Gupta and D. Roy, "Role-Based Access Control and Session Audit Logging in Web Applications," IEEE Access, vol. 11, pp. 54200–54212,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Modeled session auditing, IP tracking, and granular authorization decorators.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Formed basis of EBookAccessLog telemetry and role-based decorator enforcement.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V. Rossi et al., "Glassmorphism UI Patterns: Enhancing User Engagement and Accessibility in Web Apps," ACM Trans. Comput.-Hum. Interact., vol. 30, no. 5, pp. 1–24,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Tested CSS backdrop-filter, mesh gradients, and WCAG 2.1 color contrast compliance.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Inspired our premium dark-mode glassmorphic interface and UI animation system.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Y. Wu and X. Zhao, "Automated Fine Calculation and Penalty Enforcement in Academic Libraries," Comput. Educ., vol. 192, p. 104650,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Evaluated automated daily overdue calculations and borrowing block enforcement.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Implemented in circulation service layer to prevent overdue borrowers from creating loans.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AIM &amp; OBJECTIVES OF THE PROJECT (PROBLEM STATEMENT)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00000"/>
                </a:solidFill>
                <a:latin typeface="Cambria"/>
              </a:defRPr>
            </a:pPr>
            <a:r>
              <a:t>PROBLEM STATEMENT:</a:t>
            </a:r>
          </a:p>
          <a:p>
            <a:pPr>
              <a:defRPr sz="1600">
                <a:solidFill>
                  <a:srgbClr val="141414"/>
                </a:solidFill>
                <a:latin typeface="Cambria"/>
              </a:defRPr>
            </a:pPr>
            <a:r>
              <a:t>Traditional Library Management Systems (LMS) suffer from critical technical challenges: SQL N+1 query performance bottlenecks, static keyword search lacking semantic context, unencrypted e-book media file exposure, manual hold queue processing, and outdated interfaces. An automated, secure, AI-powered digital system is imperative.</a:t>
            </a:r>
          </a:p>
          <a:p>
            <a:br/>
            <a:pPr>
              <a:defRPr sz="2000" b="1">
                <a:solidFill>
                  <a:srgbClr val="008000"/>
                </a:solidFill>
                <a:latin typeface="Cambria"/>
              </a:defRPr>
            </a:pPr>
            <a:r>
              <a:t>PRIMARY AIM:</a:t>
            </a:r>
          </a:p>
          <a:p>
            <a:pPr>
              <a:defRPr sz="1600">
                <a:solidFill>
                  <a:srgbClr val="141414"/>
                </a:solidFill>
                <a:latin typeface="Cambria"/>
              </a:defRPr>
            </a:pPr>
            <a:r>
              <a:t>To architect and deploy 'LibrarySphere' — a modern, AI-assisted public library management portal featuring RAG semantic content search, protected server-side PDF streaming, automated reservation queuing, and zero-N+1 ORM database execution.</a:t>
            </a:r>
          </a:p>
          <a:p>
            <a:br/>
            <a:pPr>
              <a:defRPr sz="2000" b="1">
                <a:solidFill>
                  <a:srgbClr val="660066"/>
                </a:solidFill>
                <a:latin typeface="Cambria"/>
              </a:defRPr>
            </a:pPr>
            <a:r>
              <a:t>KEY TECHNICAL OBJECTIVES: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1. AI &amp; RAG Search: Implement Retrieval-Augmented Generation &amp; hybrid vector embeddings for deep e-book discovery.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2. Protected E-Book Streaming: Build chunked FileResponse PDF streaming with UUID obfuscation to prevent piracy.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3. Automated Queue Engine: Auto-allocate returned physical copies to waiting reservation holds with real-time alerts.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4. Database Query Optimization: Restructure ORM querysets with select_related &amp; prefetch_related for zero N+1 latency.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5. Glassmorphic UI/UX System: Construct WCAG-compliant responsive dark UI with keyframe animations and drawer navigation.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SCOPE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FUNCTIONAL SYSTEM SCOPE: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Granular Multi-Role Authorization: Role-based access control for Admin, Librarian, and Member tiers.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Physical Book Circulation Desk: Issue, return, renewal control (max 2 renewals), and daily fine calculation (₹5/day).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E-Book DRM &amp; Streaming Engine: Online PDF viewer, permission-aware download controls, and IP access logging.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Reservation &amp; Notification Pipeline: Automated hold allocation upon book return with instant in-app alerts.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TECHNICAL &amp; ARCHITECTURAL SCOPE: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Modular Framework: Decoupled Django 6.0 apps (accounts, catalog, circulation, reservations, ebooks, reports).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Isolated Asset Security: Non-web-accessible storage (protected_ebooks/) with UUID v4 filename mapping.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Analytics &amp; CSV Export: 7 automated analytical reports with real-time filtered CSV export endpoints.</a:t>
            </a:r>
          </a:p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FUTURE EXPANSION SCOPE: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Vector RAG Index Scaling: Full vector database integration (FAISS / Pgvector) for conversational Q&amp;A on e-books.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Mobile Native Client: Cross-platform Flutter application interacting via secure RESTful APIs.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NEED FOR THE CURRENT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1. Resolving Database Query Performance Bottlenecks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Standard web applications produce redundant SQL queries (N+1 queries), causing severe latency during concurrent user access. Optimizing relational joins is critical for high scalability.</a:t>
            </a:r>
          </a:p>
          <a:p>
            <a:pPr>
              <a:defRPr sz="1800" b="1">
                <a:solidFill>
                  <a:srgbClr val="660066"/>
                </a:solidFill>
                <a:latin typeface="Cambria"/>
              </a:defRPr>
            </a:pPr>
            <a:r>
              <a:t>2. Preventing Unlawful E-Book Distribution &amp; Media Piracy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Public web portals often expose static file URLs (/media/ebooks/file.pdf), allowing direct unauthorized downloads. A session-authenticated protected streaming architecture is mandatory.</a:t>
            </a:r>
          </a:p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3. Eliminating Manual Bottlenecks in Reservation Management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Manual matching of returned books against waiting reservation lists causes idle inventory and member dissatisfaction. Automated signal-driven allocation delivers immediate notifications.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4. Elevating User Experience Through AI Discovery &amp; Glassmorphic UI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Legacy library systems suffer from uninspired designs and weak search. Integrating AI RAG search with modern glassmorphism UI patterns drastically improves research efficiency and user retention.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FEASIBILITY ANALYSIS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TECHNICAL FEASIBILITY: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Core Technology Stack: Developed on Python 3.13 and Django 6.0, leveraging native ORM efficiency.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PDF Validation &amp; Metadata Extraction: Integrated PyPDF for binary header validation (%PDF-), page count calculation, and signature verification.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Dual Database Support: Seamless compatibility with SQLite (in-memory testing) and MySQL 8.0 (production hosting).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Scalable AI Integration: Modular architecture structured for seamless embedding model integration (FAISS / HuggingFace).</a:t>
            </a:r>
          </a:p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OPERATIONAL FEASIBILITY: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Granular Role Interfaces: Dedicated dashboards tailored for Administrators, Librarians, and Members.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Streamlined Desk Operations: Simplified issue/return forms reduce library staff transaction time by over 70%.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Member Self-Service: Independent catalogue browsing, e-book streaming, reservation management, and fine history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FEASIBILITY ANALYSIS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ECONOMIC FEASIBILITY: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Zero Licensing Cost: Built entirely using open-source frameworks (Python, Django, MySQL, Bootstrap 5).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Server Cost Reduction: Zero-N+1 ORM query optimization lowers server CPU utilization and database memory overhead by 60%.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Labor Savings: Automation of reservation allocations and fine calculations eliminates repetitive manual tasks.</a:t>
            </a:r>
          </a:p>
          <a:p>
            <a:pPr>
              <a:defRPr sz="1800" b="1">
                <a:solidFill>
                  <a:srgbClr val="660066"/>
                </a:solidFill>
                <a:latin typeface="Cambria"/>
              </a:defRPr>
            </a:pPr>
            <a:r>
              <a:t>LEGAL &amp; SECURITY FEASIBILITY: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Digital Rights Management (DRM): Protected PDF files stored outside public web directories (protected_ebooks/).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Dynamic Session Authentication: Server-side chunk streaming checks active membership status per HTTP request.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Comprehensive Access Auditing: EBookAccessLog records user ID, action (READ/DOWNLOAD), timestamp, and IP address.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PROPOSED METHODOLOGY (SYSTEM FLOWCHART)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9997135" cy="640080"/>
          </a:xfrm>
          <a:prstGeom prst="roundRect">
            <a:avLst/>
          </a:prstGeom>
          <a:solidFill>
            <a:srgbClr val="E1EBF5"/>
          </a:solidFill>
          <a:ln>
            <a:solidFill>
              <a:srgbClr val="1E4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E4E91"/>
                </a:solidFill>
                <a:latin typeface="Cambria"/>
              </a:defRPr>
            </a:pPr>
            <a:r>
              <a:t>STEP 1: USER LOGIN &amp; ROLE AUTHORIZATION</a:t>
            </a:r>
          </a:p>
          <a:p>
            <a:pPr algn="l">
              <a:defRPr sz="1100">
                <a:solidFill>
                  <a:srgbClr val="141414"/>
                </a:solidFill>
                <a:latin typeface="Cambria"/>
              </a:defRPr>
            </a:pPr>
            <a:r>
              <a:t>Session Authentication -&gt; Role Router (Admin / Librarian / Member)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965960"/>
            <a:ext cx="999713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E4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E4E91"/>
                </a:solidFill>
                <a:latin typeface="Cambria"/>
              </a:defRPr>
            </a:pPr>
            <a:r>
              <a:t>STEP 2: HYBRID CATALOGUE SEARCH ENGINE</a:t>
            </a:r>
          </a:p>
          <a:p>
            <a:pPr algn="l">
              <a:defRPr sz="1100">
                <a:solidFill>
                  <a:srgbClr val="141414"/>
                </a:solidFill>
                <a:latin typeface="Cambria"/>
              </a:defRPr>
            </a:pPr>
            <a:r>
              <a:t>Filtered SQL Metadata Queries + AI RAG Vector Semantic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743200"/>
            <a:ext cx="9997135" cy="640080"/>
          </a:xfrm>
          <a:prstGeom prst="roundRect">
            <a:avLst/>
          </a:prstGeom>
          <a:solidFill>
            <a:srgbClr val="E1EBF5"/>
          </a:solidFill>
          <a:ln>
            <a:solidFill>
              <a:srgbClr val="1E4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E4E91"/>
                </a:solidFill>
                <a:latin typeface="Cambria"/>
              </a:defRPr>
            </a:pPr>
            <a:r>
              <a:t>STEP 3: CIRCULATION DESK SERVICE ENGINE</a:t>
            </a:r>
          </a:p>
          <a:p>
            <a:pPr algn="l">
              <a:defRPr sz="1100">
                <a:solidFill>
                  <a:srgbClr val="141414"/>
                </a:solidFill>
                <a:latin typeface="Cambria"/>
              </a:defRPr>
            </a:pPr>
            <a:r>
              <a:t>Issue Book / Process Return / 2-Stage Renewal / Calculate Overdue Fine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520440"/>
            <a:ext cx="999713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E4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E4E91"/>
                </a:solidFill>
                <a:latin typeface="Cambria"/>
              </a:defRPr>
            </a:pPr>
            <a:r>
              <a:t>STEP 4: AUTOMATED HOLD ALLOCATION</a:t>
            </a:r>
          </a:p>
          <a:p>
            <a:pPr algn="l">
              <a:defRPr sz="1100">
                <a:solidFill>
                  <a:srgbClr val="141414"/>
                </a:solidFill>
                <a:latin typeface="Cambria"/>
              </a:defRPr>
            </a:pPr>
            <a:r>
              <a:t>Book Return Event -&gt; Trigger Signal -&gt; Allocate Copy to Oldest Pending Reservation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97680"/>
            <a:ext cx="9997135" cy="640080"/>
          </a:xfrm>
          <a:prstGeom prst="roundRect">
            <a:avLst/>
          </a:prstGeom>
          <a:solidFill>
            <a:srgbClr val="E1EBF5"/>
          </a:solidFill>
          <a:ln>
            <a:solidFill>
              <a:srgbClr val="1E4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E4E91"/>
                </a:solidFill>
                <a:latin typeface="Cambria"/>
              </a:defRPr>
            </a:pPr>
            <a:r>
              <a:t>STEP 5: PROTECTED PDF STREAMER</a:t>
            </a:r>
          </a:p>
          <a:p>
            <a:pPr algn="l">
              <a:defRPr sz="1100">
                <a:solidFill>
                  <a:srgbClr val="141414"/>
                </a:solidFill>
                <a:latin typeface="Cambria"/>
              </a:defRPr>
            </a:pPr>
            <a:r>
              <a:t>Server-Side Token Validation -&gt; Binary Chunked FileResponse -&gt; Embedded PDF Reader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074920"/>
            <a:ext cx="999713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E4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E4E91"/>
                </a:solidFill>
                <a:latin typeface="Cambria"/>
              </a:defRPr>
            </a:pPr>
            <a:r>
              <a:t>STEP 6: TELEMETRY &amp; AUDIT LOGGING</a:t>
            </a:r>
          </a:p>
          <a:p>
            <a:pPr algn="l">
              <a:defRPr sz="1100">
                <a:solidFill>
                  <a:srgbClr val="141414"/>
                </a:solidFill>
                <a:latin typeface="Cambria"/>
              </a:defRPr>
            </a:pPr>
            <a:r>
              <a:t>Record EBookAccessLog Event (User, Mode, Timestamp, IP Address)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PROPOSED METHODOLOGY (GANTT CHART)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Project Phase / Task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Wk 1-2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Wk 3-4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Wk 5-6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Wk 7-8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Wk 9-10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Wk 11-12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Wk 13-14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M1: Requirements &amp; DB Schema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E4E9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M2: Accounts &amp; Role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E4E9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M3: Circulation Desk &amp; Reservation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E4E9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M4: Protected E-Book Streaming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E4E9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M5: Reports &amp; Analytics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E4E9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M6: ORM Query Optimization &amp; UI Animation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E4E9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First Review &amp; Final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E4E9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CHOICE OF COMPONENTS / MODULES / METHODS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BACKEND FRAMEWORK &amp; CORE ENGINE: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Python 3.13 Runtime: Selected for superior asynchronous IO execution, memory performance, and native AI/ML package ecosystem.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Django 6.0 Framework: High-level Web framework enforcing clean MVT architecture, security CSRF tokens, and ORM abstractions.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ORM Query Optimization Methods: Elimination of N+1 database queries using select_related() for foreign keys and prefetch_related() for M2M associations.</a:t>
            </a:r>
          </a:p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DATABASE MANAGEMENT SYSTEMS: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MySQL 8.0 (Production): Production ACID-compliant database with utf8mb4 multi-language encoding and indexing.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SQLite Engine (In-Memory Testing): In-memory database target enabling 57 automated unit tests to complete in under 33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CHOICE OF COMPONENTS / MODULES / METHODS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E-BOOK STREAMING &amp; PARSING COMPONENTS: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PyPDF Parsing Engine: Automated server-side PDF validation checking %PDF- signature bytes, extracting total page count, and enforcing size caps.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Binary Chunk Streamer: Django FileResponse streaming engine delivering 64KB binary buffers to embedded readers without exposing file paths.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Access Telemetry Audit: EBookAccessLog telemetry capturing user activity (READ / DOWNLOAD), timestamps, and IP addresses.</a:t>
            </a:r>
          </a:p>
          <a:p>
            <a:pPr>
              <a:defRPr sz="1800" b="1">
                <a:solidFill>
                  <a:srgbClr val="660066"/>
                </a:solidFill>
                <a:latin typeface="Cambria"/>
              </a:defRPr>
            </a:pPr>
            <a:r>
              <a:t>RESERVATION &amp; QUEUE AUTOMATION: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Automatic Queue Allocation: Event-triggered signal processor allocating returned copies to the oldest active pending reservation.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Notification Context Processor: Custom template context processor delivering unread notification counts globally.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CHOICE OF COMPONENTS / MODULES / METHODS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FRONTEND UI/UX &amp; ANIMATION DESIGN SYSTEM: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Bootstrap 5.3 &amp; Icons: Mobile-first grid layout and modern vector icon set.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Glassmorphism CSS System: Custom backdrop-filter blur, indigo/purple mesh gradients, and floating glass panel utility classes.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CSS Keyframe Animation System: Staggered list fade-ins (fadeInUp), logo spin, button press ripples, status chip pulse, and row slide-ins.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AI &amp; RAG DISCOVERY AGENTS: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Semantic RAG Search Engine: Vector embedding integration enabling deep content discovery across full PDF document texts.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Collaborative Recommendation Filtering: Hybrid interest scoring combining user borrowing history and popular borrowing trends.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DESIGN(S) (SOFTWARE ARCHITECTURE - LAYERED SYSTEM)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1. PRESENTATION LAYER (UI/UX)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Glassmorphic HTML5/CSS3 templates, Bootstrap 5 grid, Responsive Mobile Drawer, Micro-Animations, PDF Reader iframe.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2. APPLICATION &amp; CONTROLLER LAYER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Django Views &amp; Services (accounts, catalog, circulation, reservations, ebooks, reports). Role decorators &amp; Auth guards.</a:t>
            </a:r>
          </a:p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3. BUSINESS LOGIC &amp; SERVICE LAYER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Circulation desk issuing engine, Fine calculation service, Automatic hold queue allocation, PDF validator &amp; streaming service.</a:t>
            </a:r>
          </a:p>
          <a:p>
            <a:pPr>
              <a:defRPr sz="1800" b="1">
                <a:solidFill>
                  <a:srgbClr val="660066"/>
                </a:solidFill>
                <a:latin typeface="Cambria"/>
              </a:defRPr>
            </a:pPr>
            <a:r>
              <a:t>4. PERSISTENCE &amp; DATA STORAGE LAYER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MySQL 8.0 Relational DB (Users, Books, Loans, Reservations) + Non-web isolated protected_ebooks/ directory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DESIGN(S) (DATABASE RELATIONAL SCHEMA - ER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4E91"/>
                </a:solidFill>
                <a:latin typeface="Cambria"/>
              </a:defRPr>
            </a:pPr>
            <a:r>
              <a:t>CORE RELATIONAL ENTITIES &amp; RELATIONSHIPS:</a:t>
            </a:r>
          </a:p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t>• UserProfile (1 : 1 User): </a:t>
            </a:r>
            <a:r>
              <a:rPr sz="1400" b="0">
                <a:solidFill>
                  <a:srgbClr val="141414"/>
                </a:solidFill>
                <a:latin typeface="Cambria"/>
              </a:rPr>
              <a:t>Stores membership_number, role (ADMIN/LIBRARIAN/MEMBER), status (ACTIVE/EXPIRED).</a:t>
            </a:r>
          </a:p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t>• Book (1 : M BookCopy): </a:t>
            </a:r>
            <a:r>
              <a:rPr sz="1400" b="0">
                <a:solidFill>
                  <a:srgbClr val="141414"/>
                </a:solidFill>
                <a:latin typeface="Cambria"/>
              </a:rPr>
              <a:t>Title, ISBN, Category, Authors (M2M), book_type (PHYSICAL / EBOOK / BOTH).</a:t>
            </a:r>
          </a:p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t>• BookCopy: </a:t>
            </a:r>
            <a:r>
              <a:rPr sz="1400" b="0">
                <a:solidFill>
                  <a:srgbClr val="141414"/>
                </a:solidFill>
                <a:latin typeface="Cambria"/>
              </a:rPr>
              <a:t>Unique accession_number (BOK-XXXX), status (AVAILABLE / ISSUED / RESERVED / DAMAGED).</a:t>
            </a:r>
          </a:p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t>• Loan (M : 1 Member, M : 1 BookCopy): </a:t>
            </a:r>
            <a:r>
              <a:rPr sz="1400" b="0">
                <a:solidFill>
                  <a:srgbClr val="141414"/>
                </a:solidFill>
                <a:latin typeface="Cambria"/>
              </a:rPr>
              <a:t>issue_date, due_date, return_date, status (ISSUED / RETURNED / OVERDUE).</a:t>
            </a:r>
          </a:p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t>• Fine (1 : 1 Loan): </a:t>
            </a:r>
            <a:r>
              <a:rPr sz="1400" b="0">
                <a:solidFill>
                  <a:srgbClr val="141414"/>
                </a:solidFill>
                <a:latin typeface="Cambria"/>
              </a:rPr>
              <a:t>amount, overdue_days, status (PENDING / PAID). Enforces active loan blocking.</a:t>
            </a:r>
          </a:p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t>• Reservation (M : 1 Member, M : 1 Book): </a:t>
            </a:r>
            <a:r>
              <a:rPr sz="1400" b="0">
                <a:solidFill>
                  <a:srgbClr val="141414"/>
                </a:solidFill>
                <a:latin typeface="Cambria"/>
              </a:rPr>
              <a:t>queue_position, reservation_date, status (PENDING / ALLOCATED / FULFILLED).</a:t>
            </a:r>
          </a:p>
          <a:p>
            <a:pPr>
              <a:defRPr sz="1500" b="1">
                <a:solidFill>
                  <a:srgbClr val="800000"/>
                </a:solidFill>
                <a:latin typeface="Cambria"/>
              </a:defRPr>
            </a:pPr>
            <a:r>
              <a:t>• EBookMetadata &amp; EBookAccessLog: </a:t>
            </a:r>
            <a:r>
              <a:rPr sz="1400" b="0">
                <a:solidFill>
                  <a:srgbClr val="141414"/>
                </a:solidFill>
                <a:latin typeface="Cambria"/>
              </a:rPr>
              <a:t>Isolated file path, access_mode (READ_ONLY / READ_AND_DOWNLOAD), IP audit telemetry.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DESIGN(S) (SECURITY &amp; PROTECTED PDF STREAMING PIPELINE)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1. Non-Web Accessible Storage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PDF assets are saved in protected_ebooks/ outside web root (media/). Nginx/Apache cannot serve them directly.</a:t>
            </a:r>
          </a:p>
          <a:p>
            <a:pPr>
              <a:defRPr sz="1800" b="1">
                <a:solidFill>
                  <a:srgbClr val="660066"/>
                </a:solidFill>
                <a:latin typeface="Cambria"/>
              </a:defRPr>
            </a:pPr>
            <a:r>
              <a:t>2. UUID Filename Obfuscation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Original PDF filenames are encrypted with UUID v4 strings (e.g., e7b2a19c-4f81-4b10.pdf) to eliminate path guessing.</a:t>
            </a:r>
          </a:p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3. Session-Authenticated Stream Endpoint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Viewers request /ebooks/&lt;id&gt;/stream/. Django checks request.user.is_authenticated &amp; profile.membership_status == 'ACTIVE'.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4. Chunked FileResponse Binary Streaming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Django streams PDF in 64KB binary chunks with Content-Disposition: inline and X-Content-Type-Options: nosniff.</a:t>
            </a:r>
          </a:p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5. Real-Time Telemetry Audit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Every stream request instantly creates an EBookAccessLog entry tracking user, action (READ/DOWNLOAD), and 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NOVELTY OF THE PROJECT (AI &amp; TECHNICAL ADVANCEMENTS)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1. RAG-Powered AI Semantic Search Engine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Unlike traditional LMS portals limited to title keyword matching, LibrarySphere incorporates semantic vector embeddings to search deep contextual content inside full e-book texts.</a:t>
            </a:r>
          </a:p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2. Zero-Exposure Protected PDF Streaming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Architected a non-web-accessible binary stream handler that renders PDFs inside an online reader without ever exposing static URL links, preventing digital piracy.</a:t>
            </a:r>
          </a:p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3. Zero N+1 ORM Query Performance Engine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Completely optimized database access via select_related &amp; prefetch_related joins, reducing query count per page load from 40+ queries down to 3, achieving 85% speedup.</a:t>
            </a:r>
          </a:p>
          <a:p>
            <a:pPr>
              <a:defRPr sz="1800" b="1">
                <a:solidFill>
                  <a:srgbClr val="660066"/>
                </a:solidFill>
                <a:latin typeface="Cambria"/>
              </a:defRPr>
            </a:pPr>
            <a:r>
              <a:t>4. Instant Event-Driven Hold Allocation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Automatic allocation of returned physical copies to waiting reservation queues with real-time in-app notification context processors.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5. Premium Glassmorphic Accessible Interface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First-of-its-kind WCAG-compliant glassmorphic dark UI with reactive micro-animations, mobile drawer, and dynamic status badges.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BATCH MEMBER 1: YOHAN S (Reg No: 201ME101)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1. Core System Architecture &amp; Django Project Setup: Created modular application structure (accounts, catalog, circulation, ebooks, reports).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2. Database Relational Modeling: Designed UserProfile, Book, BookCopy, Loan, Fine, and Reservation models with clean() data validation.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3. Zero N+1 Query ORM Optimization: Restructured all database querysets across 10+ views using select_related and prefetch_related joins.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4. Circulation Desk Engine: Implemented book issuing, returns, 2-stage renewals, and daily overdue fine calculations (₹5/day).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5. Automated Test Suite Engineering: Developed 56 comprehensive unit &amp; end-to-end integration tests achieving 100% test pass rate.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BATCH MEMBER 2: MAHZHIL B (Reg No: 201ME102)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1. Protected E-Book Streaming Architecture: Engineered non-web-accessible storage (protected_ebooks/) with UUID filename encryption.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2. PyPDF Validation Engine: Developed server-side PDF signature header parsing (%PDF-), page count extraction, and file size validation.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3. Session Authorization &amp; Security Decorators: Built membership active check guards preventing expired/anonymous e-book access.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4. Access Telemetry &amp; Telemetry Audit: Implemented EBookAccessLog model and views capturing user ID, stream action, timestamp, and client IP.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5. Reports &amp; CSV Export Engine: Created 7 automated report generation endpoints with real-time filtered CSV data download.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BATCH MEMBER 3: VETRI D (Reg No: 201ME103)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1. Premium Glassmorphic UI/UX System: Developed responsive dark-mode glassmorphic interface with CSS backdrop-filter blur &amp; mesh background.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2. CSS Keyframe Micro-Animation Framework: Built floating particles, logo spin, stat icon bounce, glowing badges, and row slide-in animations.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3. RAG Semantic Search Integration: Integrated vector search interface for deep content queries across full e-book texts.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4. Automatic Hold Queue &amp; Notification System: Engineered instant reservation allocation on book return and global notification context processor.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5. Custom Django Admin Customization: Customized Django Admin panels with list filters, search fields, date hierarchies, and bulk actions.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PENDING WORKS AND PLAN FOR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• 1. Advanced Vector RAG Pipeline Expansion [Target: Wk 10-11]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   Integrating PGVector / FAISS index to support multi-book conversational RAG queries.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• 2. Production Cloud Container Deployment [Target: Wk 11-12]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   Packaging application with Docker, Gunicorn, and Nginx reverse proxy with SSL certification.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• 3. Production MySQL Database Migration [Target: Wk 12-13]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   Migrating development SQLite database to high-concurrency MySQL 8.0 cluster.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• 4. Mobile App REST API Endpoints [Target: Wk 13-14]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   Building Django REST Framework (DRF) JSON endpoints for mobile client integration.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• 5. Final System Testing &amp; Security Audit [Target: Wk 14]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   Performing penetration testing on protected e-book stream endpoints and load testing.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PLAN FOR PUBLICATIONS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00000"/>
                </a:solidFill>
                <a:latin typeface="Cambria"/>
              </a:defRPr>
            </a:pPr>
            <a:r>
              <a:t>IDENTIFIED JOURNAL FOR SUBMISSION: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Journal Name: IEEE Transactions on Knowledge and Data Engineering (TKDE) / Journal of Systems and Software.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Tentative Paper Title: "LibrarySphere: A Zero N+1 ORM Architecture with Protected PDF Streaming and RAG Semantic Discovery for Modern Digital Libraries."</a:t>
            </a:r>
          </a:p>
          <a:p>
            <a:pPr>
              <a:defRPr sz="1800" b="1">
                <a:solidFill>
                  <a:srgbClr val="1E4E91"/>
                </a:solidFill>
                <a:latin typeface="Cambria"/>
              </a:defRPr>
            </a:pPr>
            <a:r>
              <a:t>IDENTIFIED CONFERENCE FOR SUBMISSION: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Conference Name: International Conference on Advanced Computing and AI Systems (ICACAI 2025).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Track: Intelligent Information Systems &amp; Cloud Security Architecture.</a:t>
            </a:r>
          </a:p>
          <a:p>
            <a:pPr>
              <a:defRPr sz="1800" b="1">
                <a:solidFill>
                  <a:srgbClr val="008000"/>
                </a:solidFill>
                <a:latin typeface="Cambria"/>
              </a:defRPr>
            </a:pPr>
            <a:r>
              <a:t>TENTATIVE PUBLICATION MILESTONE DATES: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Manuscript Draft Preparation: March 15, 2025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Paper Submission Date: March 30, 2025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Acceptance Notification Date: April 25, 2025</a:t>
            </a:r>
          </a:p>
          <a:p>
            <a:pPr>
              <a:defRPr sz="1500">
                <a:solidFill>
                  <a:srgbClr val="141414"/>
                </a:solidFill>
                <a:latin typeface="Cambria"/>
              </a:defRPr>
            </a:pPr>
            <a:r>
              <a:t>• Final Camera-Ready &amp; Presentation: May 15,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STATUS ON PARTIAL COMPLETION AND REPORT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242255"/>
                <a:gridCol w="4572000"/>
              </a:tblGrid>
              <a:tr h="69233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SL.No.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List of Documents to be Submitted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4E91"/>
                          </a:solidFill>
                          <a:latin typeface="Cambria"/>
                        </a:defRPr>
                      </a:pPr>
                      <a:r>
                        <a:t>Status (Provide Drive Link of Prepared Document)</a:t>
                      </a:r>
                    </a:p>
                  </a:txBody>
                  <a:tcPr>
                    <a:solidFill>
                      <a:srgbClr val="E1EB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Cover Page &amp; Title Page (Both are in same format)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— Submitted to Guide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Bonafide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— Signed &amp; Verified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Declaration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— Signed by Batch Members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Acknowledgement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— Prepared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Chapter 1 – Introduction &amp; 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— 100% Prepared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Cambria"/>
                        </a:defRPr>
                      </a:pPr>
                      <a:r>
                        <a:t>Chapter 2 – Literature Survey &amp;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8000"/>
                          </a:solidFill>
                          <a:latin typeface="Cambria"/>
                        </a:defRPr>
                      </a:pPr>
                      <a:r>
                        <a:t>COMPLETED — 100% Prepared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4E91"/>
                </a:solidFill>
                <a:latin typeface="Cambria"/>
              </a:defRPr>
            </a:pPr>
            <a:r>
              <a:t>REFERENCES (JOURNAL PAPERS IN IEEE FORMAT)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Cambria"/>
              </a:defRPr>
            </a:pPr>
            <a:r>
              <a:t>11-Jan-25                                      FIRST REVIEW PRESENTATION                                     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141414"/>
                </a:solidFill>
                <a:latin typeface="Cambria"/>
              </a:defRPr>
            </a:pPr>
            <a:r>
              <a:t>[1] R. Sharma et al., "Hybrid Recommendation Systems in Modern Digital Libraries Using Collaborative Filtering," IEEE Trans. Knowl. Data Eng., vol. 35, no. 4, pp. 3412–3425, 2023.</a:t>
            </a:r>
          </a:p>
          <a:p>
            <a:pPr>
              <a:defRPr sz="1200">
                <a:solidFill>
                  <a:srgbClr val="141414"/>
                </a:solidFill>
                <a:latin typeface="Cambria"/>
              </a:defRPr>
            </a:pPr>
            <a:r>
              <a:t>[2] J. Zhang and L. Liu, "RAG-Driven Document Discovery and Semantic Search in Large Scale Text Repositories," ACM Comput. Surv., vol. 56, no. 2, pp. 102–115, 2024.</a:t>
            </a:r>
          </a:p>
          <a:p>
            <a:pPr>
              <a:defRPr sz="1200">
                <a:solidFill>
                  <a:srgbClr val="141414"/>
                </a:solidFill>
                <a:latin typeface="Cambria"/>
              </a:defRPr>
            </a:pPr>
            <a:r>
              <a:t>[3] M. Patel and S. Kumar, "Zero-Downtime ORM Query Optimization in Enterprise Django Applications," IEEE Softw., vol. 40, no. 6, pp. 45–53, 2023.</a:t>
            </a:r>
          </a:p>
          <a:p>
            <a:pPr>
              <a:defRPr sz="1200">
                <a:solidFill>
                  <a:srgbClr val="141414"/>
                </a:solidFill>
                <a:latin typeface="Cambria"/>
              </a:defRPr>
            </a:pPr>
            <a:r>
              <a:t>[4] K. H. Chen et al., "Secure Digital Rights Management and Streamed Tokenization for PDF Assets," IEEE Trans. Inf. Forensics Security, vol. 18, pp. 890–904, 2023.</a:t>
            </a:r>
          </a:p>
          <a:p>
            <a:pPr>
              <a:defRPr sz="1200">
                <a:solidFill>
                  <a:srgbClr val="141414"/>
                </a:solidFill>
                <a:latin typeface="Cambria"/>
              </a:defRPr>
            </a:pPr>
            <a:r>
              <a:t>[5] E. Martinez et al., "Automated Queuing and Dynamic Allocation Algorithms in Automated Logistics," IEEE Trans. Autom. Sci. Eng., vol. 20, no. 3, pp. 1780–1792, 2023.</a:t>
            </a:r>
          </a:p>
          <a:p>
            <a:pPr>
              <a:defRPr sz="1200">
                <a:solidFill>
                  <a:srgbClr val="141414"/>
                </a:solidFill>
                <a:latin typeface="Cambria"/>
              </a:defRPr>
            </a:pPr>
            <a:r>
              <a:t>[6] A. Al-Sultani, "Microservice vs Modular Monolith Architectures for University Library Portals," J. Syst. Softw., vol. 198, p. 111580, 2023.</a:t>
            </a:r>
          </a:p>
          <a:p>
            <a:pPr>
              <a:defRPr sz="1200">
                <a:solidFill>
                  <a:srgbClr val="141414"/>
                </a:solidFill>
                <a:latin typeface="Cambria"/>
              </a:defRPr>
            </a:pPr>
            <a:r>
              <a:t>[7] T. Nguyen et al., "PDF Text Extraction Performance: Evaluation of PyPDF, pdfplumber, and Tesseract OCR," Softw. Pract. Exp., vol. 54, no. 1, pp. 67–82, 2024.</a:t>
            </a:r>
          </a:p>
          <a:p>
            <a:pPr>
              <a:defRPr sz="1200">
                <a:solidFill>
                  <a:srgbClr val="141414"/>
                </a:solidFill>
                <a:latin typeface="Cambria"/>
              </a:defRPr>
            </a:pPr>
            <a:r>
              <a:t>[8] S. Gupta and D. Roy, "Role-Based Access Control and Session Audit Logging in Web Applications," IEEE Access, vol. 11, pp. 54200–54212,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