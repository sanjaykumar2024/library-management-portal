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shap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09728"/>
            <a:ext cx="7680960" cy="13095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371600"/>
            <a:ext cx="8534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99"/>
                </a:solidFill>
                <a:latin typeface="Cambria"/>
              </a:defRPr>
            </a:pPr>
            <a:r>
              <a:rPr sz="1600" b="1">
                <a:solidFill>
                  <a:srgbClr val="003399"/>
                </a:solidFill>
                <a:latin typeface="Cambria"/>
              </a:rPr>
              <a:t>ACADEMIC YEAR 2026 - 27</a:t>
            </a:r>
            <a:br/>
            <a:r>
              <a:rPr sz="1600" b="1">
                <a:solidFill>
                  <a:srgbClr val="003399"/>
                </a:solidFill>
                <a:latin typeface="Cambria"/>
              </a:rPr>
              <a:t>S7 PROJECT WORK</a:t>
            </a:r>
            <a:br/>
            <a:r>
              <a:rPr sz="1600" b="1">
                <a:solidFill>
                  <a:srgbClr val="003399"/>
                </a:solidFill>
                <a:latin typeface="Cambria"/>
              </a:rPr>
              <a:t>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67712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3399"/>
                </a:solidFill>
                <a:latin typeface="Cambria"/>
              </a:defRPr>
            </a:pPr>
            <a:r>
              <a:rPr sz="1500" b="1">
                <a:solidFill>
                  <a:srgbClr val="003399"/>
                </a:solidFill>
                <a:latin typeface="Cambria"/>
              </a:rPr>
              <a:t>PROJECT TITLE</a:t>
            </a:r>
          </a:p>
          <a:p>
            <a:pPr algn="ctr">
              <a:defRPr sz="2000" b="1">
                <a:solidFill>
                  <a:srgbClr val="800000"/>
                </a:solidFill>
                <a:latin typeface="Cambria"/>
              </a:defRPr>
            </a:pPr>
            <a:r>
              <a:rPr sz="2000" b="1">
                <a:solidFill>
                  <a:srgbClr val="800000"/>
                </a:solidFill>
                <a:latin typeface="Cambria"/>
              </a:rPr>
              <a:t>PUBLIC LIBRARY MEMBERSHIP MANAGEMENT AND BOOK RESERVATION TRACKING PORTAL</a:t>
            </a:r>
          </a:p>
          <a:p>
            <a:pPr algn="ctr">
              <a:defRPr sz="1400" b="1">
                <a:solidFill>
                  <a:srgbClr val="003399"/>
                </a:solidFill>
                <a:latin typeface="Cambria"/>
              </a:defRPr>
            </a:pPr>
            <a:r>
              <a:rPr sz="1400" b="1">
                <a:solidFill>
                  <a:srgbClr val="003399"/>
                </a:solidFill>
                <a:latin typeface="Cambria"/>
              </a:rPr>
              <a:t>(LibrarySphere: Next-Generation Touchless Self-Checkout &amp; Digital E-Book Library Ecosystem)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48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Cambria"/>
              </a:defRPr>
            </a:pPr>
            <a:r>
              <a:rPr sz="1350" b="1">
                <a:solidFill>
                  <a:srgbClr val="000000"/>
                </a:solidFill>
                <a:latin typeface="Cambria"/>
              </a:rPr>
              <a:t>BIP PROJECT ID: 24S7INT369                                        CATEGORY: INTERNAL / EXTERNAL –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4572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399"/>
                </a:solidFill>
                <a:latin typeface="Cambria"/>
              </a:defRPr>
            </a:pPr>
            <a:r>
              <a:rPr sz="1500" b="1">
                <a:solidFill>
                  <a:srgbClr val="003399"/>
                </a:solidFill>
                <a:latin typeface="Cambria"/>
              </a:rPr>
              <a:t>BATCH MEMBERS</a:t>
            </a:r>
          </a:p>
          <a:p>
            <a:pPr>
              <a:defRPr sz="1350" b="1">
                <a:solidFill>
                  <a:srgbClr val="000000"/>
                </a:solidFill>
                <a:latin typeface="Cambria"/>
              </a:defRPr>
            </a:pPr>
            <a:r>
              <a:rPr sz="1350" b="1">
                <a:solidFill>
                  <a:srgbClr val="000000"/>
                </a:solidFill>
                <a:latin typeface="Cambria"/>
              </a:rPr>
              <a:t>SUBIKSHA SHREE S (7376231EC295)</a:t>
            </a:r>
          </a:p>
          <a:p>
            <a:pPr>
              <a:defRPr sz="1350" b="1">
                <a:solidFill>
                  <a:srgbClr val="000000"/>
                </a:solidFill>
                <a:latin typeface="Cambria"/>
              </a:defRPr>
            </a:pPr>
            <a:r>
              <a:rPr sz="1350" b="1">
                <a:solidFill>
                  <a:srgbClr val="000000"/>
                </a:solidFill>
                <a:latin typeface="Cambria"/>
              </a:rPr>
              <a:t>SANJAYKUMAR S (7376232IT249)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572000"/>
            <a:ext cx="47548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399"/>
                </a:solidFill>
                <a:latin typeface="Cambria"/>
              </a:defRPr>
            </a:pPr>
            <a:r>
              <a:rPr sz="1500" b="1">
                <a:solidFill>
                  <a:srgbClr val="003399"/>
                </a:solidFill>
                <a:latin typeface="Cambria"/>
              </a:rPr>
              <a:t>SUPERVISOR / GUIDE</a:t>
            </a:r>
          </a:p>
          <a:p>
            <a:pPr>
              <a:defRPr sz="1350" b="1">
                <a:solidFill>
                  <a:srgbClr val="000000"/>
                </a:solidFill>
                <a:latin typeface="Cambria"/>
              </a:defRPr>
            </a:pPr>
            <a:r>
              <a:rPr sz="1350" b="1">
                <a:solidFill>
                  <a:srgbClr val="000000"/>
                </a:solidFill>
                <a:latin typeface="Cambria"/>
              </a:rPr>
              <a:t>Prof. MAHESHKUMAR K</a:t>
            </a:r>
          </a:p>
          <a:p>
            <a:pPr>
              <a:defRPr sz="1200" b="0">
                <a:solidFill>
                  <a:srgbClr val="464646"/>
                </a:solidFill>
                <a:latin typeface="Cambria"/>
              </a:defRPr>
            </a:pPr>
            <a:r>
              <a:rPr sz="1200" b="0">
                <a:solidFill>
                  <a:srgbClr val="464646"/>
                </a:solidFill>
                <a:latin typeface="Cambria"/>
              </a:rPr>
              <a:t>Assistant Professor Level II</a:t>
            </a:r>
            <a:br/>
            <a:r>
              <a:rPr sz="1200" b="0">
                <a:solidFill>
                  <a:srgbClr val="464646"/>
                </a:solidFill>
                <a:latin typeface="Cambria"/>
              </a:rPr>
              <a:t>Department of Computer Science and Design</a:t>
            </a:r>
            <a:br/>
            <a:r>
              <a:rPr sz="1200" b="0">
                <a:solidFill>
                  <a:srgbClr val="464646"/>
                </a:solidFill>
                <a:latin typeface="Cambria"/>
              </a:rPr>
              <a:t>Bannari Amman Institute of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AIM &amp; OBJECTIVES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6012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800000"/>
                </a:solidFill>
                <a:latin typeface="Cambria"/>
              </a:defRPr>
            </a:pPr>
            <a:r>
              <a:rPr sz="2000" b="1">
                <a:solidFill>
                  <a:srgbClr val="800000"/>
                </a:solidFill>
                <a:latin typeface="Cambria"/>
              </a:rPr>
              <a:t>Aim:</a:t>
            </a:r>
          </a:p>
          <a:p>
            <a:pPr>
              <a:spcAft>
                <a:spcPts val="10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rPr sz="1400" b="0">
                <a:solidFill>
                  <a:srgbClr val="000000"/>
                </a:solidFill>
                <a:latin typeface="Cambria"/>
              </a:rPr>
              <a:t>To design, develop, and deploy an automated, web-accessible public library management and book reservation ecosystem (LibrarySphere) that unifies physical book circulation and digital e-book reading, eliminates circulation desk congestion through hardware-free touchless self-checkout kiosks, and enforces transactional data integrity through role-based governance.</a:t>
            </a:r>
          </a:p>
          <a:p>
            <a:pPr>
              <a:spcAft>
                <a:spcPts val="400"/>
              </a:spcAft>
              <a:defRPr sz="2000" b="1">
                <a:solidFill>
                  <a:srgbClr val="800000"/>
                </a:solidFill>
                <a:latin typeface="Cambria"/>
              </a:defRPr>
            </a:pPr>
            <a:r>
              <a:rPr sz="2000" b="1">
                <a:solidFill>
                  <a:srgbClr val="800000"/>
                </a:solidFill>
                <a:latin typeface="Cambria"/>
              </a:rPr>
              <a:t>Objectives: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Unified Dual-Catalog Management: </a:t>
            </a:r>
            <a:r>
              <a:rPr sz="1300" b="0">
                <a:solidFill>
                  <a:srgbClr val="000000"/>
                </a:solidFill>
                <a:latin typeface="Cambria"/>
              </a:rPr>
              <a:t>Develop a centralized OPAC to catalog physical hardcovers with unique accession numbers alongside authentic digital EPUB assets.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Touchless Self-Checkout Station: </a:t>
            </a:r>
            <a:r>
              <a:rPr sz="1300" b="0">
                <a:solidFill>
                  <a:srgbClr val="000000"/>
                </a:solidFill>
                <a:latin typeface="Cambria"/>
              </a:rPr>
              <a:t>Implement a browser-native web-cam barcode and QR scanner using Html5-QRCode for autonomous, unassisted patron checkouts.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Atomic ACID Circulation Engine: </a:t>
            </a:r>
            <a:r>
              <a:rPr sz="1300" b="0">
                <a:solidFill>
                  <a:srgbClr val="000000"/>
                </a:solidFill>
                <a:latin typeface="Cambria"/>
              </a:rPr>
              <a:t>Engineer thread-safe book issuance, renewal quotas, and returns with row-level database locking preventing concurrent race conditions.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Automated FIFO Reservation Queues: </a:t>
            </a:r>
            <a:r>
              <a:rPr sz="1300" b="0">
                <a:solidFill>
                  <a:srgbClr val="000000"/>
                </a:solidFill>
                <a:latin typeface="Cambria"/>
              </a:rPr>
              <a:t>Create an automated waitlist hold allocation engine that automatically assigns returned books to next-in-line patrons with alert notifications.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Multi-Tier Access Control &amp; Fines: </a:t>
            </a:r>
            <a:r>
              <a:rPr sz="1300" b="0">
                <a:solidFill>
                  <a:srgbClr val="000000"/>
                </a:solidFill>
                <a:latin typeface="Cambria"/>
              </a:rPr>
              <a:t>Enforce granular Role-Based Access Control (Admin, Librarian, Member) and an automated daily overdue penalty engine (₹5/day).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In-Browser Digital E-Book Reader Studio: </a:t>
            </a:r>
            <a:r>
              <a:rPr sz="1300" b="0">
                <a:solidFill>
                  <a:srgbClr val="000000"/>
                </a:solidFill>
                <a:latin typeface="Cambria"/>
              </a:rPr>
              <a:t>Deliver a decoupled EPUB streaming reader supporting typography scaling (A-/A+), Web Speech API audio narration, and 4 persistent themes.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Real-Time Operational Analytics: </a:t>
            </a:r>
            <a:r>
              <a:rPr sz="1300" b="0">
                <a:solidFill>
                  <a:srgbClr val="000000"/>
                </a:solidFill>
                <a:latin typeface="Cambria"/>
              </a:rPr>
              <a:t>Provide executive dashboards tracking active circulation velocity, inventory auditing, overdue debt recovery, and exportable CSV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0000"/>
                </a:solidFill>
                <a:latin typeface="Cambria"/>
              </a:defRPr>
            </a:pPr>
            <a:r>
              <a:rPr sz="1500" b="1">
                <a:solidFill>
                  <a:srgbClr val="800000"/>
                </a:solidFill>
                <a:latin typeface="Cambria"/>
              </a:rPr>
              <a:t>Review of Web-Based Library Architectures &amp; Circulation Portals (Part 1 of 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097280"/>
          <a:ext cx="10515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3154680"/>
                <a:gridCol w="3337560"/>
                <a:gridCol w="3337560"/>
              </a:tblGrid>
              <a:tr h="12344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Sl. No.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References (Journal Papers Only)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Works carried out (Methods/Materials/Software/Algorithms/Techniques)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Information gathered relevant to your project</a:t>
                      </a:r>
                    </a:p>
                  </a:txBody>
                  <a:tcPr marL="73152" marR="73152" marT="36576" marB="36576"/>
                </a:tc>
              </a:tr>
              <a:tr h="12344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V. Kumar, “Cloud-Based Integrated Library Management Systems for Academic Resource Centers: Architecture, Performance, and Implementation,” International Journal of Information Management, vol. 63, p. 102450, 2022.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Digitized catalog searching, physical book accessioning, and patron record-keeping using PHP and MySQL in an academic resource center.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Demonstrated that web-based catalog platforms significantly reduce catalog inquiry latency and improve bibliographic visibility, but identified key gaps in role-based access control and digital e-book reading.</a:t>
                      </a:r>
                    </a:p>
                  </a:txBody>
                  <a:tcPr marL="73152" marR="73152" marT="36576" marB="36576"/>
                </a:tc>
              </a:tr>
              <a:tr h="12344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R. Krishnan, “Evaluating Latency and User Satisfaction in Multi-Tier Online Public Access Catalogs (OPAC),” Journal of Academic Librarianship, vol. 46, no. 5, p. 102210, 2020.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Evaluated multi-tier OPAC systems across higher education libraries measuring query response times and user search behavior.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Identified that lack of real-time physical shelf availability and faceted category filtering creates substantial user frustration, leading to high search abandonment rates in legacy portals.</a:t>
                      </a:r>
                    </a:p>
                  </a:txBody>
                  <a:tcPr marL="73152" marR="73152" marT="36576" marB="36576"/>
                </a:tc>
              </a:tr>
              <a:tr h="12344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S. Rajan, “Design and Deployment of Lightweight Web-Based Book Circulation Tracking Systems in Community Libraries,” IEEE Access, vol. 9, pp. 88120–88132, 2021.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Built a lightweight web circulation portal tracking issues and returns through a basic two-state workflow.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Reported a 45% reduction in circulation desk processing time, but lacked automated overdue fine calculations, reservation queues, and in-browser digital e-book access.</a:t>
                      </a:r>
                    </a:p>
                  </a:txBody>
                  <a:tcPr marL="73152" marR="73152" marT="36576" marB="36576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0000"/>
                </a:solidFill>
                <a:latin typeface="Cambria"/>
              </a:defRPr>
            </a:pPr>
            <a:r>
              <a:rPr sz="1500" b="1">
                <a:solidFill>
                  <a:srgbClr val="800000"/>
                </a:solidFill>
                <a:latin typeface="Cambria"/>
              </a:rPr>
              <a:t>Review of Automated Circulation &amp; Waitlist Prioritization (Part 2 of 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097280"/>
          <a:ext cx="10515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3154680"/>
                <a:gridCol w="3337560"/>
                <a:gridCol w="3337560"/>
              </a:tblGrid>
              <a:tr h="12344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Sl. No.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References (Journal Papers Only)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Works carried out (Methods/Materials/Software/Algorithms/Techniques)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Information gathered relevant to your project</a:t>
                      </a:r>
                    </a:p>
                  </a:txBody>
                  <a:tcPr marL="73152" marR="73152" marT="36576" marB="36576"/>
                </a:tc>
              </a:tr>
              <a:tr h="12344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4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R. Sharma, V. Kumar, and S. Patel, “Workflow Automation and Rule-Based Checkout Validation in Academic Library Circulation,” IEEE Transactions on Services Computing, vol. 14, no. 6, pp. 1920–1933, 2021.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Investigated workflow automation in academic library circulation using rule-based validation engines.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Demonstrated that automated fine calculation and rule-based checkout validation reduced desk transaction times by up to 58% compared to manual ledger workflows.</a:t>
                      </a:r>
                    </a:p>
                  </a:txBody>
                  <a:tcPr marL="73152" marR="73152" marT="36576" marB="36576"/>
                </a:tc>
              </a:tr>
              <a:tr h="12344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5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K. Patel, “Algorithmic Waitlist Prioritization and Queue Service Encapsulation in Academic Web Portals,” ACM Transactions on Computer Systems, vol. 40, no. 2, pp. 45–59, 2022.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Designed an algorithmic FIFO waitlist queue management system for university resource centers using Python and relational database triggers.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Provided architectural insights on queue service encapsulation, showing automated hold allocation eliminates manual reservation tracking errors and disputes.</a:t>
                      </a:r>
                    </a:p>
                  </a:txBody>
                  <a:tcPr marL="73152" marR="73152" marT="36576" marB="36576"/>
                </a:tc>
              </a:tr>
              <a:tr h="12344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6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M. Nair, “Empirical Analysis of Automated Resource Routing and Allocation Efficiency in Distributed Systems,” Computers &amp; Education, vol. 158, p. 103998, 2020.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Evaluated automated resource routing and reservation queuing efficiency in campus resource lending environments.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Confirmed that automated reservation queuing reduces average turnaround time for high-demand materials from 5.4 days to under 1.5 days.</a:t>
                      </a:r>
                    </a:p>
                  </a:txBody>
                  <a:tcPr marL="73152" marR="73152" marT="36576" marB="36576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0000"/>
                </a:solidFill>
                <a:latin typeface="Cambria"/>
              </a:defRPr>
            </a:pPr>
            <a:r>
              <a:rPr sz="1500" b="1">
                <a:solidFill>
                  <a:srgbClr val="800000"/>
                </a:solidFill>
                <a:latin typeface="Cambria"/>
              </a:rPr>
              <a:t>Review of API Security, Database Concurrency &amp; Optical Vision (Part 3 of 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097280"/>
          <a:ext cx="10515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3154680"/>
                <a:gridCol w="3337560"/>
                <a:gridCol w="3337560"/>
              </a:tblGrid>
              <a:tr h="12344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Sl. No.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References (Journal Papers Only)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Works carried out (Methods/Materials/Software/Algorithms/Techniques)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Information gathered relevant to your project</a:t>
                      </a:r>
                    </a:p>
                  </a:txBody>
                  <a:tcPr marL="73152" marR="73152" marT="36576" marB="36576"/>
                </a:tc>
              </a:tr>
              <a:tr h="12344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7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A. Fernandez, M. Gomez, and D. Perez, “Fine-Grained Role-Based Access Control and API Layer Enforcement in Modern Web Applications,” IEEE Transactions on Dependable and Secure Computing, vol. 19, no. 3, pp. 1845–1859, 2022.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Evaluated access control models across MVC web applications, comparing frontend enforcement against API/service-layer RBAC.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Demonstrated that backend API-layer role enforcement reduced unauthorized data access incidents by 74% compared to client-side checks.</a:t>
                      </a:r>
                    </a:p>
                  </a:txBody>
                  <a:tcPr marL="73152" marR="73152" marT="36576" marB="36576"/>
                </a:tc>
              </a:tr>
              <a:tr h="12344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8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P. Mohan and R. Krishnamurthy, “Performance Benchmarking and Row-Level Concurrency Isolation in Enterprise Database Backends,” ACM Transactions on Database Systems, vol. 46, no. 4, pp. 1–28, 2021.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Benchmarked relational database concurrency and session management during high-traffic resource allocation events.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Proved that atomic transaction isolation with row-level locking (select_for_update) prevents double-checkout race conditions with &lt;25ms query overhead.</a:t>
                      </a:r>
                    </a:p>
                  </a:txBody>
                  <a:tcPr marL="73152" marR="73152" marT="36576" marB="36576"/>
                </a:tc>
              </a:tr>
              <a:tr h="12344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9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T. Harris and S. Kumar, “Camera-Based Barcode Recognition and Self-Service Kiosk Usability in Public Information Systems,” IEEE Access, vol. 10, pp. 41200–41212, 2022.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Evaluated client-side HTML5 camera video decoding algorithms (ZXing, Quagga) for unassisted public self-service kiosks.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Cambria"/>
                        </a:rPr>
                        <a:t>Showed that browser-native camera scanning achieves 97.4% first-pass barcode decode accuracy, eliminating the need for expensive dedicated scanner hardware.</a:t>
                      </a:r>
                    </a:p>
                  </a:txBody>
                  <a:tcPr marL="73152" marR="73152" marT="36576" marB="36576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SCOPE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515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66534"/>
                </a:solidFill>
                <a:latin typeface="Cambria"/>
              </a:defRPr>
            </a:pPr>
            <a:r>
              <a:rPr sz="2000" b="1">
                <a:solidFill>
                  <a:srgbClr val="166534"/>
                </a:solidFill>
                <a:latin typeface="Cambria"/>
              </a:rPr>
              <a:t>Functional Boundaries, Architectural Pillars &amp; System Coverage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500" b="1">
                <a:solidFill>
                  <a:srgbClr val="003399"/>
                </a:solidFill>
                <a:latin typeface="Cambria"/>
              </a:rPr>
              <a:t>•  Centralized Automation: </a:t>
            </a:r>
            <a:r>
              <a:rPr sz="1400" b="0">
                <a:solidFill>
                  <a:srgbClr val="000000"/>
                </a:solidFill>
                <a:latin typeface="Cambria"/>
              </a:rPr>
              <a:t>Develop a responsive, web-based platform to streamline the entire physical and digital book circulation lifecycle—from accessioning to returns—replacing manual ledger entries and fragmented desktop tools.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500" b="1">
                <a:solidFill>
                  <a:srgbClr val="003399"/>
                </a:solidFill>
                <a:latin typeface="Cambria"/>
              </a:rPr>
              <a:t>•  Touchless Self-Checkout: </a:t>
            </a:r>
            <a:r>
              <a:rPr sz="1400" b="0">
                <a:solidFill>
                  <a:srgbClr val="000000"/>
                </a:solidFill>
                <a:latin typeface="Cambria"/>
              </a:rPr>
              <a:t>Implement an unassisted Express Kiosk utilizing browser-native Html5-QRCode camera barcode decoding, allowing members to check out physical books autonomously in under 10 seconds without proprietary scanner hardware.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500" b="1">
                <a:solidFill>
                  <a:srgbClr val="003399"/>
                </a:solidFill>
                <a:latin typeface="Cambria"/>
              </a:rPr>
              <a:t>•  Dual-Format Digital Reading Studio: </a:t>
            </a:r>
            <a:r>
              <a:rPr sz="1400" b="0">
                <a:solidFill>
                  <a:srgbClr val="000000"/>
                </a:solidFill>
                <a:latin typeface="Cambria"/>
              </a:rPr>
              <a:t>Integrate an in-browser streaming reader for authentic reflowable EPUB e-books, providing customizable typography (A-/A+), Web Speech API audio narration, and zero-download in-browser reading.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500" b="1">
                <a:solidFill>
                  <a:srgbClr val="003399"/>
                </a:solidFill>
                <a:latin typeface="Cambria"/>
              </a:rPr>
              <a:t>•  Robust Governance &amp; Analytics: </a:t>
            </a:r>
            <a:r>
              <a:rPr sz="1400" b="0">
                <a:solidFill>
                  <a:srgbClr val="000000"/>
                </a:solidFill>
                <a:latin typeface="Cambria"/>
              </a:rPr>
              <a:t>Enforce strict Role-Based Access Control (Admin, Librarian, Member) alongside an automated daily overdue fine calculation engine (₹5/day), FIFO reservation queues, and administrative operational audit dashboards.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NEED FOR THE CURRENT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515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800000"/>
                </a:solidFill>
                <a:latin typeface="Cambria"/>
              </a:defRPr>
            </a:pPr>
            <a:r>
              <a:rPr sz="2000" b="1">
                <a:solidFill>
                  <a:srgbClr val="800000"/>
                </a:solidFill>
                <a:latin typeface="Cambria"/>
              </a:rPr>
              <a:t>Analysis of Institutional Circulation Bottlenecks &amp; Gaps in Existing ILS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350" b="0">
                <a:solidFill>
                  <a:srgbClr val="000000"/>
                </a:solidFill>
                <a:latin typeface="Cambria"/>
              </a:rPr>
              <a:t>•  Circulation Desk Congestion: Traditional library operations suffer from long manual checkout queues during peak morning and evening hours, causing 15–20 minute patron wait times and staff burnout.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350" b="0">
                <a:solidFill>
                  <a:srgbClr val="000000"/>
                </a:solidFill>
                <a:latin typeface="Cambria"/>
              </a:rPr>
              <a:t>•  Prohibitive Commercial Software Costs: Proprietary commercial ILS platforms (e.g. ExLibris Alma, Innovative Sierra) cost $18,000–$35,000 annually, pricing out educational and community public libraries.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350" b="0">
                <a:solidFill>
                  <a:srgbClr val="000000"/>
                </a:solidFill>
                <a:latin typeface="Cambria"/>
              </a:rPr>
              <a:t>•  Expensive Dedicated Hardware: Commercial self-checkout kiosks rely on dedicated RFID gates and proprietary handheld barcode scanners costing $5,000–$10,000 per station with high maintenance overhead.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350" b="0">
                <a:solidFill>
                  <a:srgbClr val="000000"/>
                </a:solidFill>
                <a:latin typeface="Cambria"/>
              </a:rPr>
              <a:t>•  Fragmented Digital Experience: Existing OPAC systems either lack digital reading entirely or force raw PDF/EPUB downloads that breach copyright, clutter local storage, and lack accessibility controls.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350" b="0">
                <a:solidFill>
                  <a:srgbClr val="000000"/>
                </a:solidFill>
                <a:latin typeface="Cambria"/>
              </a:rPr>
              <a:t>•  Manual Fine &amp; Waitlist Discrepancies: Manual paper-based overdue tracking and unstructured reservation lists result in lost books, uncollected institutional revenue, and patron allocation disputes.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350" b="0">
                <a:solidFill>
                  <a:srgbClr val="000000"/>
                </a:solidFill>
                <a:latin typeface="Cambria"/>
              </a:rPr>
              <a:t>•  Lack of Real-Time Patron Transparency: Patrons receive no digital loan receipts, no real-time shelf availability indicators, and no mobile visibility into their active reservation hold positions.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PROPOSED METHODOLOGY ( FLOW CHART )</a:t>
            </a:r>
          </a:p>
        </p:txBody>
      </p:sp>
      <p:pic>
        <p:nvPicPr>
          <p:cNvPr id="3" name="Picture 2" descr="fig_3_3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051560"/>
            <a:ext cx="658368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051560"/>
            <a:ext cx="3840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00000"/>
                </a:solidFill>
                <a:latin typeface="Cambria"/>
              </a:defRPr>
            </a:pPr>
            <a:r>
              <a:rPr sz="1800" b="1">
                <a:solidFill>
                  <a:srgbClr val="800000"/>
                </a:solidFill>
                <a:latin typeface="Cambria"/>
              </a:rPr>
              <a:t>End-to-End Circulation Pipeline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3399"/>
                </a:solidFill>
                <a:latin typeface="Cambria"/>
              </a:rPr>
              <a:t>• 1. Patron Authentication: </a:t>
            </a:r>
            <a:r>
              <a:rPr sz="1200" b="0">
                <a:solidFill>
                  <a:srgbClr val="000000"/>
                </a:solidFill>
                <a:latin typeface="Cambria"/>
              </a:rPr>
              <a:t>Webcam QR/barcode scan or manual member ID login with role verification.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3399"/>
                </a:solidFill>
                <a:latin typeface="Cambria"/>
              </a:rPr>
              <a:t>• 2. Real-Time Eligibility Check: </a:t>
            </a:r>
            <a:r>
              <a:rPr sz="1200" b="0">
                <a:solidFill>
                  <a:srgbClr val="000000"/>
                </a:solidFill>
                <a:latin typeface="Cambria"/>
              </a:rPr>
              <a:t>ORM evaluates active borrow quotas, outstanding overdue fines, and account status.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3399"/>
                </a:solidFill>
                <a:latin typeface="Cambria"/>
              </a:rPr>
              <a:t>• 3. Optical Barcode Acquisition: </a:t>
            </a:r>
            <a:r>
              <a:rPr sz="1200" b="0">
                <a:solidFill>
                  <a:srgbClr val="000000"/>
                </a:solidFill>
                <a:latin typeface="Cambria"/>
              </a:rPr>
              <a:t>Client-side canvas decodes book accession barcodes with instant audio cues.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3399"/>
                </a:solidFill>
                <a:latin typeface="Cambria"/>
              </a:rPr>
              <a:t>• 4. Atomic ACID Checkout: </a:t>
            </a:r>
            <a:r>
              <a:rPr sz="1200" b="0">
                <a:solidFill>
                  <a:srgbClr val="000000"/>
                </a:solidFill>
                <a:latin typeface="Cambria"/>
              </a:rPr>
              <a:t>Database transaction acquires row lock, allocates copy, and sets return due date.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3399"/>
                </a:solidFill>
                <a:latin typeface="Cambria"/>
              </a:rPr>
              <a:t>• 5. Instant Receipt &amp; Logs: </a:t>
            </a:r>
            <a:r>
              <a:rPr sz="1200" b="0">
                <a:solidFill>
                  <a:srgbClr val="000000"/>
                </a:solidFill>
                <a:latin typeface="Cambria"/>
              </a:rPr>
              <a:t>Generates digital checkout receipt slip, live audit logging, and inventory quantity sync.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3399"/>
                </a:solidFill>
                <a:latin typeface="Cambria"/>
              </a:rPr>
              <a:t>• 6. E-Book Streaming Pipeline: </a:t>
            </a:r>
            <a:r>
              <a:rPr sz="1200" b="0">
                <a:solidFill>
                  <a:srgbClr val="000000"/>
                </a:solidFill>
                <a:latin typeface="Cambria"/>
              </a:rPr>
              <a:t>Decoupled server unbundles EPUB chapters with typography controls and audio narration.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PROPOSED METHODOLOGY ( GANTT CHART 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B21A8"/>
                </a:solidFill>
                <a:latin typeface="Cambria"/>
              </a:defRPr>
            </a:pPr>
            <a:r>
              <a:rPr sz="1500" b="1">
                <a:solidFill>
                  <a:srgbClr val="6B21A8"/>
                </a:solidFill>
                <a:latin typeface="Cambria"/>
              </a:rPr>
              <a:t>Engineering Sprint Schedule &amp; Milestone Timeline (Aug 2026 – Oct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0972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143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200" b="1">
                          <a:solidFill>
                            <a:srgbClr val="003399"/>
                          </a:solidFill>
                          <a:latin typeface="Cambria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200" b="1">
                          <a:solidFill>
                            <a:srgbClr val="003399"/>
                          </a:solidFill>
                          <a:latin typeface="Cambria"/>
                        </a:rP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200" b="1">
                          <a:solidFill>
                            <a:srgbClr val="003399"/>
                          </a:solidFill>
                          <a:latin typeface="Cambria"/>
                        </a:rP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200" b="1">
                          <a:solidFill>
                            <a:srgbClr val="003399"/>
                          </a:solidFill>
                          <a:latin typeface="Cambria"/>
                        </a:rPr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200" b="1">
                          <a:solidFill>
                            <a:srgbClr val="003399"/>
                          </a:solidFill>
                          <a:latin typeface="Cambria"/>
                        </a:rPr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200" b="1">
                          <a:solidFill>
                            <a:srgbClr val="003399"/>
                          </a:solidFill>
                          <a:latin typeface="Cambria"/>
                        </a:rPr>
                        <a:t>Week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200" b="1">
                          <a:solidFill>
                            <a:srgbClr val="003399"/>
                          </a:solidFill>
                          <a:latin typeface="Cambria"/>
                        </a:rPr>
                        <a:t>Week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200" b="1">
                          <a:solidFill>
                            <a:srgbClr val="003399"/>
                          </a:solidFill>
                          <a:latin typeface="Cambria"/>
                        </a:rPr>
                        <a:t>Week 7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Research, Literature Review &amp; SRS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████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Relational Schema &amp; 3NF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███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███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UI/UX Design &amp; Catalog Omni-Search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███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███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Circulation Service Layer &amp; Atomic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███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███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Touchless Kiosk &amp; Html5-QRCode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███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███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E-Book Streaming Studio &amp; Overdue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███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███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0000"/>
                          </a:solidFill>
                          <a:latin typeface="Cambria"/>
                        </a:rPr>
                        <a:t>Full Integration Testing (117 Tests) &amp;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300" b="1">
                          <a:solidFill>
                            <a:srgbClr val="003399"/>
                          </a:solidFill>
                          <a:latin typeface="Cambria"/>
                        </a:rPr>
                        <a:t>███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5349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64646"/>
                </a:solidFill>
                <a:latin typeface="Cambria"/>
              </a:defRPr>
            </a:pPr>
            <a:r>
              <a:rPr sz="1300" b="0">
                <a:solidFill>
                  <a:srgbClr val="464646"/>
                </a:solidFill>
                <a:latin typeface="Cambria"/>
              </a:rPr>
              <a:t>• 100% Sprint Adherence: Delivered all 7 core engineering sprints on schedule across 12 calendar weeks.</a:t>
            </a:r>
            <a:br/>
            <a:r>
              <a:rPr sz="1300" b="0">
                <a:solidFill>
                  <a:srgbClr val="464646"/>
                </a:solidFill>
                <a:latin typeface="Cambria"/>
              </a:rPr>
              <a:t>• Agile Test Verification: Executed bi-weekly unit testing cycles culminating in 117 passing automated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SYSTEM ARCHITECTURE &amp; ENTITY-RELATIONSHIP (ER) DIAGRAM</a:t>
            </a:r>
          </a:p>
        </p:txBody>
      </p:sp>
      <p:pic>
        <p:nvPicPr>
          <p:cNvPr id="3" name="Picture 2" descr="fig_4_7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051560"/>
            <a:ext cx="71323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5156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6534"/>
                </a:solidFill>
                <a:latin typeface="Cambria"/>
              </a:defRPr>
            </a:pPr>
            <a:r>
              <a:rPr sz="1800" b="1">
                <a:solidFill>
                  <a:srgbClr val="166534"/>
                </a:solidFill>
                <a:latin typeface="Cambria"/>
              </a:rPr>
              <a:t>Relational Schema Architecture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3399"/>
                </a:solidFill>
                <a:latin typeface="Cambria"/>
              </a:rPr>
              <a:t>• Third Normal Form (3NF): </a:t>
            </a:r>
            <a:r>
              <a:rPr sz="1200" b="0">
                <a:solidFill>
                  <a:srgbClr val="000000"/>
                </a:solidFill>
                <a:latin typeface="Cambria"/>
              </a:rPr>
              <a:t>Strict normalization eliminates data redundancy across User, Profile, Book, BookCopy, BorrowTransaction, and Fine.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3399"/>
                </a:solidFill>
                <a:latin typeface="Cambria"/>
              </a:rPr>
              <a:t>• Relational Cardinality: </a:t>
            </a:r>
            <a:r>
              <a:rPr sz="1200" b="0">
                <a:solidFill>
                  <a:srgbClr val="000000"/>
                </a:solidFill>
                <a:latin typeface="Cambria"/>
              </a:rPr>
              <a:t>1-to-N relationships between Book &amp; BookCopy; 1-to-N between Member &amp; Transactions; 1-to-1 between BorrowTransaction &amp; Fine.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3399"/>
                </a:solidFill>
                <a:latin typeface="Cambria"/>
              </a:rPr>
              <a:t>• Foreign Key Integrity: </a:t>
            </a:r>
            <a:r>
              <a:rPr sz="1200" b="0">
                <a:solidFill>
                  <a:srgbClr val="000000"/>
                </a:solidFill>
                <a:latin typeface="Cambria"/>
              </a:rPr>
              <a:t>Strict cascade constraints and foreign key indexing prevent orphaned loan records or ghost inventory.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3399"/>
                </a:solidFill>
                <a:latin typeface="Cambria"/>
              </a:rPr>
              <a:t>• Indexed Lookup Speed: </a:t>
            </a:r>
            <a:r>
              <a:rPr sz="1200" b="0">
                <a:solidFill>
                  <a:srgbClr val="000000"/>
                </a:solidFill>
                <a:latin typeface="Cambria"/>
              </a:rPr>
              <a:t>B-Tree indexing on accession_number, isbn, and member_id achieves sub-10ms query execution under concurrency.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3399"/>
                </a:solidFill>
                <a:latin typeface="Cambria"/>
              </a:rPr>
              <a:t>• ACID Guarantees: </a:t>
            </a:r>
            <a:r>
              <a:rPr sz="1200" b="0">
                <a:solidFill>
                  <a:srgbClr val="000000"/>
                </a:solidFill>
                <a:latin typeface="Cambria"/>
              </a:rPr>
              <a:t>Atomic checkout locks prevent double-booking race conditions during simultaneous patron scans.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SOFTWARE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6012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600" b="1">
                <a:solidFill>
                  <a:srgbClr val="800000"/>
                </a:solidFill>
                <a:latin typeface="Cambria"/>
              </a:defRPr>
            </a:pPr>
            <a:r>
              <a:rPr sz="1600" b="1">
                <a:solidFill>
                  <a:srgbClr val="800000"/>
                </a:solidFill>
                <a:latin typeface="Cambria"/>
              </a:rPr>
              <a:t>Languages: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Python 3.13 : </a:t>
            </a:r>
            <a:r>
              <a:rPr sz="1300" b="0">
                <a:solidFill>
                  <a:srgbClr val="000000"/>
                </a:solidFill>
                <a:latin typeface="Cambria"/>
              </a:rPr>
              <a:t>Application runtime, backend business logic services, and database migrations.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JavaScript (ES6+) : </a:t>
            </a:r>
            <a:r>
              <a:rPr sz="1300" b="0">
                <a:solidFill>
                  <a:srgbClr val="000000"/>
                </a:solidFill>
                <a:latin typeface="Cambria"/>
              </a:rPr>
              <a:t>Cross-browser client-side optical barcode decoding and reactive UI state management.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1">
                <a:solidFill>
                  <a:srgbClr val="166534"/>
                </a:solidFill>
                <a:latin typeface="Cambria"/>
              </a:defRPr>
            </a:pPr>
            <a:r>
              <a:rPr sz="1600" b="1">
                <a:solidFill>
                  <a:srgbClr val="166534"/>
                </a:solidFill>
                <a:latin typeface="Cambria"/>
              </a:rPr>
              <a:t>Libraries &amp; Frameworks: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Django 6.0 : </a:t>
            </a:r>
            <a:r>
              <a:rPr sz="1300" b="0">
                <a:solidFill>
                  <a:srgbClr val="000000"/>
                </a:solidFill>
                <a:latin typeface="Cambria"/>
              </a:rPr>
              <a:t>Model-View-Template web framework for REST endpoints, ORM data mapping, and session security.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HTML5, CSS3, Bootstrap 5.3 : </a:t>
            </a:r>
            <a:r>
              <a:rPr sz="1300" b="0">
                <a:solidFill>
                  <a:srgbClr val="000000"/>
                </a:solidFill>
                <a:latin typeface="Cambria"/>
              </a:rPr>
              <a:t>Responsive design with custom CSS variables supporting zero-flicker Light and Dark themes.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Html5-QRCode &amp; ZXing JS : </a:t>
            </a:r>
            <a:r>
              <a:rPr sz="1300" b="0">
                <a:solidFill>
                  <a:srgbClr val="000000"/>
                </a:solidFill>
                <a:latin typeface="Cambria"/>
              </a:rPr>
              <a:t>Browser-native computer vision library for client-side webcam barcode scanning.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Web Speech API : </a:t>
            </a:r>
            <a:r>
              <a:rPr sz="1300" b="0">
                <a:solidFill>
                  <a:srgbClr val="000000"/>
                </a:solidFill>
                <a:latin typeface="Cambria"/>
              </a:rPr>
              <a:t>Browser-native text-to-speech audio narration synthesizer for accessible in-browser reading.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1">
                <a:solidFill>
                  <a:srgbClr val="6B21A8"/>
                </a:solidFill>
                <a:latin typeface="Cambria"/>
              </a:defRPr>
            </a:pPr>
            <a:r>
              <a:rPr sz="1600" b="1">
                <a:solidFill>
                  <a:srgbClr val="6B21A8"/>
                </a:solidFill>
                <a:latin typeface="Cambria"/>
              </a:rPr>
              <a:t>Tools &amp; Cloud Infrastructure: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PostgreSQL 16 &amp; SQLite 3 : </a:t>
            </a:r>
            <a:r>
              <a:rPr sz="1300" b="0">
                <a:solidFill>
                  <a:srgbClr val="000000"/>
                </a:solidFill>
                <a:latin typeface="Cambria"/>
              </a:rPr>
              <a:t>Relational database storage with referential integrity and row-level concurrency locks.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Render Cloud PaaS &amp; Gunicorn : </a:t>
            </a:r>
            <a:r>
              <a:rPr sz="1300" b="0">
                <a:solidFill>
                  <a:srgbClr val="000000"/>
                </a:solidFill>
                <a:latin typeface="Cambria"/>
              </a:rPr>
              <a:t>Cloud hosting, automated CI/CD deployments, and WSGI multi-worker request handling.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Git &amp; GitHub : </a:t>
            </a:r>
            <a:r>
              <a:rPr sz="1300" b="0">
                <a:solidFill>
                  <a:srgbClr val="000000"/>
                </a:solidFill>
                <a:latin typeface="Cambria"/>
              </a:rPr>
              <a:t>Source code version control, pull request management, and change tracking.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1">
                <a:solidFill>
                  <a:srgbClr val="800000"/>
                </a:solidFill>
                <a:latin typeface="Cambria"/>
              </a:defRPr>
            </a:pPr>
            <a:r>
              <a:rPr sz="1600" b="1">
                <a:solidFill>
                  <a:srgbClr val="800000"/>
                </a:solidFill>
                <a:latin typeface="Cambria"/>
              </a:rPr>
              <a:t>Datasets &amp; Data Sources: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Kaggle Books &amp; Open Library REST API : </a:t>
            </a:r>
            <a:r>
              <a:rPr sz="1300" b="0">
                <a:solidFill>
                  <a:srgbClr val="000000"/>
                </a:solidFill>
                <a:latin typeface="Cambria"/>
              </a:rPr>
              <a:t>Bulk bibliographic dataset ingestion for verified ISBNs, titles, authors, and cover art.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Circulation Records Data : </a:t>
            </a:r>
            <a:r>
              <a:rPr sz="1300" b="0">
                <a:solidFill>
                  <a:srgbClr val="000000"/>
                </a:solidFill>
                <a:latin typeface="Cambria"/>
              </a:rPr>
              <a:t>Stores UserProfiles, BookCopies (accessions), BorrowTransactions, Reservations, and Fines.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ANALYSIS OF RESULTS AND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515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66534"/>
                </a:solidFill>
                <a:latin typeface="Cambria"/>
              </a:defRPr>
            </a:pPr>
            <a:r>
              <a:rPr sz="2000" b="1">
                <a:solidFill>
                  <a:srgbClr val="166534"/>
                </a:solidFill>
                <a:latin typeface="Cambria"/>
              </a:rPr>
              <a:t>Empirical System Benchmarks, Test Verification &amp; Operational ROI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400" b="1">
                <a:solidFill>
                  <a:srgbClr val="003399"/>
                </a:solidFill>
                <a:latin typeface="Cambria"/>
              </a:rPr>
              <a:t>•  The LibrarySphere Portal was subjected to 117 structured unit and integration test cases across all modules and passed with a 0% error rate. </a:t>
            </a:r>
            <a:r>
              <a:rPr sz="1350" b="0">
                <a:solidFill>
                  <a:srgbClr val="000000"/>
                </a:solidFill>
                <a:latin typeface="Cambria"/>
              </a:rPr>
              <a:t>Verified models, transaction rollbacks, CSRF validation, and constraint checking with 100% critical path coverage.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400" b="1">
                <a:solidFill>
                  <a:srgbClr val="003399"/>
                </a:solidFill>
                <a:latin typeface="Cambria"/>
              </a:rPr>
              <a:t>•  Performance analysis demonstrated a system-wide arithmetic mean response time of 28 ms under concurrent query loads. </a:t>
            </a:r>
            <a:r>
              <a:rPr sz="1350" b="0">
                <a:solidFill>
                  <a:srgbClr val="000000"/>
                </a:solidFill>
                <a:latin typeface="Cambria"/>
              </a:rPr>
              <a:t>Database indexing on accession numbers, ISBNs, and member IDs ensured sub-30ms query execution across SQLite and PostgreSQL.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400" b="1">
                <a:solidFill>
                  <a:srgbClr val="003399"/>
                </a:solidFill>
                <a:latin typeface="Cambria"/>
              </a:rPr>
              <a:t>•  The 99th percentile response time for the slowest operation (Reporting Dashboard Analytics) was 142 ms. </a:t>
            </a:r>
            <a:r>
              <a:rPr sz="1350" b="0">
                <a:solidFill>
                  <a:srgbClr val="000000"/>
                </a:solidFill>
                <a:latin typeface="Cambria"/>
              </a:rPr>
              <a:t>Remains well below the 1-second interactive threshold, guaranteeing fluid, instantaneous administrative responsiveness.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400" b="1">
                <a:solidFill>
                  <a:srgbClr val="003399"/>
                </a:solidFill>
                <a:latin typeface="Cambria"/>
              </a:rPr>
              <a:t>•  The touchless camera self-checkout station achieved an average patron checkout transaction time of 8.4 seconds. </a:t>
            </a:r>
            <a:r>
              <a:rPr sz="1350" b="0">
                <a:solidFill>
                  <a:srgbClr val="000000"/>
                </a:solidFill>
                <a:latin typeface="Cambria"/>
              </a:rPr>
              <a:t>Delivers an 85% reduction in circulation wait times compared to traditional 15-minute manual circulation desk queues.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400" b="1">
                <a:solidFill>
                  <a:srgbClr val="003399"/>
                </a:solidFill>
                <a:latin typeface="Cambria"/>
              </a:rPr>
              <a:t>•  Client-side camera barcode scanning demonstrated a 98.2% first-pass recognition rate across standard webcams. </a:t>
            </a:r>
            <a:r>
              <a:rPr sz="1350" b="0">
                <a:solidFill>
                  <a:srgbClr val="000000"/>
                </a:solidFill>
                <a:latin typeface="Cambria"/>
              </a:rPr>
              <a:t>Proves that browser-native optical vision eliminates the need for expensive $5,000+ dedicated hardware barcode scanners.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400" b="1">
                <a:solidFill>
                  <a:srgbClr val="003399"/>
                </a:solidFill>
                <a:latin typeface="Cambria"/>
              </a:rPr>
              <a:t>•  The Cost Benefit Analysis demonstrates an estimated institutional saving of $77,400+ (INR 64,00,000+) over 3 years. </a:t>
            </a:r>
            <a:r>
              <a:rPr sz="1350" b="0">
                <a:solidFill>
                  <a:srgbClr val="000000"/>
                </a:solidFill>
                <a:latin typeface="Cambria"/>
              </a:rPr>
              <a:t>Achieved by replacing commercial proprietary ILS subscriptions (Alma/Sierra) with this high-performance open-source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515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800000"/>
                </a:solidFill>
                <a:latin typeface="Cambria"/>
              </a:defRPr>
            </a:pPr>
            <a:r>
              <a:rPr sz="2000" b="1">
                <a:solidFill>
                  <a:srgbClr val="800000"/>
                </a:solidFill>
                <a:latin typeface="Cambria"/>
              </a:rPr>
              <a:t>Core Accomplishments &amp; Next-Generation Research Roadmap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003399"/>
                </a:solidFill>
                <a:latin typeface="Cambria"/>
              </a:rPr>
              <a:t>•  Successfully designed and validated LibrarySphere as a centralized, role-based, web-accessible platform for public library management. </a:t>
            </a:r>
            <a:r>
              <a:rPr sz="1350" b="0">
                <a:solidFill>
                  <a:srgbClr val="000000"/>
                </a:solidFill>
                <a:latin typeface="Cambria"/>
              </a:rPr>
              <a:t>Replaced fragmented manual communication and paper ledgers with an automated, audit-logged circulation system.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003399"/>
                </a:solidFill>
                <a:latin typeface="Cambria"/>
              </a:rPr>
              <a:t>•  Delivered an unassisted, touchless Express Self-Checkout Kiosk utilizing browser-native Html5-QRCode computer vision. </a:t>
            </a:r>
            <a:r>
              <a:rPr sz="1350" b="0">
                <a:solidFill>
                  <a:srgbClr val="000000"/>
                </a:solidFill>
                <a:latin typeface="Cambria"/>
              </a:rPr>
              <a:t>Eliminated hardware procurement barriers while cutting checkout latency by 85% across library branches.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003399"/>
                </a:solidFill>
                <a:latin typeface="Cambria"/>
              </a:rPr>
              <a:t>•  Engineered a proprietary in-browser EPUB streaming reader with dynamic typography controls and speech synthesis. </a:t>
            </a:r>
            <a:r>
              <a:rPr sz="1350" b="0">
                <a:solidFill>
                  <a:srgbClr val="000000"/>
                </a:solidFill>
                <a:latin typeface="Cambria"/>
              </a:rPr>
              <a:t>Empowered patrons with accessible, zero-download digital reading while safeguarding bibliographic assets.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003399"/>
                </a:solidFill>
                <a:latin typeface="Cambria"/>
              </a:rPr>
              <a:t>•  Achieved 100% test pass rate across 117 automated unit and integration tests with zero regression bugs. </a:t>
            </a:r>
            <a:r>
              <a:rPr sz="1350" b="0">
                <a:solidFill>
                  <a:srgbClr val="000000"/>
                </a:solidFill>
                <a:latin typeface="Cambria"/>
              </a:rPr>
              <a:t>Guarantees ACID-compliant transactional consistency and row-level concurrency isolation under peak lending surges.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66534"/>
                </a:solidFill>
                <a:latin typeface="Cambria"/>
              </a:defRPr>
            </a:pPr>
            <a:r>
              <a:rPr sz="1500" b="1">
                <a:solidFill>
                  <a:srgbClr val="166534"/>
                </a:solidFill>
                <a:latin typeface="Cambria"/>
              </a:rPr>
              <a:t>Future Work Roadmap: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800000"/>
                </a:solidFill>
                <a:latin typeface="Cambria"/>
              </a:rPr>
              <a:t>  -  Future Roadmap — Semantic AI Search &amp; Vector Recommendations: </a:t>
            </a:r>
            <a:r>
              <a:rPr sz="1250" b="0">
                <a:solidFill>
                  <a:srgbClr val="000000"/>
                </a:solidFill>
                <a:latin typeface="Cambria"/>
              </a:rPr>
              <a:t>Integrate LLM-powered embeddings (RAG) for conversational book discovery.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800000"/>
                </a:solidFill>
                <a:latin typeface="Cambria"/>
              </a:rPr>
              <a:t>  -  Future Roadmap — Biometric Patron Authentication: </a:t>
            </a:r>
            <a:r>
              <a:rPr sz="1250" b="0">
                <a:solidFill>
                  <a:srgbClr val="000000"/>
                </a:solidFill>
                <a:latin typeface="Cambria"/>
              </a:rPr>
              <a:t>Deploy camera-based facial recognition for completely hands-free kiosk sign-ins.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800000"/>
                </a:solidFill>
                <a:latin typeface="Cambria"/>
              </a:rPr>
              <a:t>  -  Future Roadmap — Offline Progressive Web App (PWA): </a:t>
            </a:r>
            <a:r>
              <a:rPr sz="1250" b="0">
                <a:solidFill>
                  <a:srgbClr val="000000"/>
                </a:solidFill>
                <a:latin typeface="Cambria"/>
              </a:rPr>
              <a:t>Enable Service Worker caching for offline catalog browsing in zero-connectivity reading rooms.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INDIVIDUAL CONTRIBUTIONS TO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6012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800000"/>
                </a:solidFill>
                <a:latin typeface="Cambria"/>
              </a:defRPr>
            </a:pPr>
            <a:r>
              <a:rPr sz="1650" b="1">
                <a:solidFill>
                  <a:srgbClr val="800000"/>
                </a:solidFill>
                <a:latin typeface="Cambria"/>
              </a:rPr>
              <a:t>Member 1: SUBIKSHA SHREE S (7376231EC295) — ROLE: FULL-STACK DEVELOPER &amp; DATABASE ARCHITECT</a:t>
            </a:r>
          </a:p>
          <a:p>
            <a:pPr>
              <a:spcAft>
                <a:spcPts val="600"/>
              </a:spcAft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Project Execution under the guidance of Mr. Maheshkumar K, Assistant Professor Level II, Dept. of Computer Science and Design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1: </a:t>
            </a:r>
            <a:r>
              <a:rPr sz="1300" b="0">
                <a:solidFill>
                  <a:srgbClr val="000000"/>
                </a:solidFill>
                <a:latin typeface="Cambria"/>
              </a:rPr>
              <a:t>Conducted domain research on library management systems; analyzed circulation bottlenecks in municipal libraries and defined functional specifications.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2: </a:t>
            </a:r>
            <a:r>
              <a:rPr sz="1300" b="0">
                <a:solidFill>
                  <a:srgbClr val="000000"/>
                </a:solidFill>
                <a:latin typeface="Cambria"/>
              </a:rPr>
              <a:t>Architected the relational schema design (12 tables) including UserProfile, Book, PhysicalCopy, Loan, Fine, and Reservation models.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3: </a:t>
            </a:r>
            <a:r>
              <a:rPr sz="1300" b="0">
                <a:solidFill>
                  <a:srgbClr val="000000"/>
                </a:solidFill>
                <a:latin typeface="Cambria"/>
              </a:rPr>
              <a:t>Implemented database migrations, model constraints (UniqueConstraint on active holds), and indexing for catalog search performance.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4: </a:t>
            </a:r>
            <a:r>
              <a:rPr sz="1300" b="0">
                <a:solidFill>
                  <a:srgbClr val="000000"/>
                </a:solidFill>
                <a:latin typeface="Cambria"/>
              </a:rPr>
              <a:t>Engineered the core circulation service layer (circulation/services.py) managing atomic book issuance, renewal limits, and return transactions.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5: </a:t>
            </a:r>
            <a:r>
              <a:rPr sz="1300" b="0">
                <a:solidFill>
                  <a:srgbClr val="000000"/>
                </a:solidFill>
                <a:latin typeface="Cambria"/>
              </a:rPr>
              <a:t>Developed the automated overdue fine engine calculating daily penalties (₹5/day) and generating dynamic payment receipts.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6: </a:t>
            </a:r>
            <a:r>
              <a:rPr sz="1300" b="0">
                <a:solidFill>
                  <a:srgbClr val="000000"/>
                </a:solidFill>
                <a:latin typeface="Cambria"/>
              </a:rPr>
              <a:t>Integrated Kaggle dataset ingestion script and Open Library REST API fetching utilities for automated bulk bibliographic imports.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7: </a:t>
            </a:r>
            <a:r>
              <a:rPr sz="1300" b="0">
                <a:solidFill>
                  <a:srgbClr val="000000"/>
                </a:solidFill>
                <a:latin typeface="Cambria"/>
              </a:rPr>
              <a:t>Authored unit tests for models, transaction rollbacks, and database query optimizations across MySQL and SQLite.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INDIVIDUAL CONTRIBUTIONS TO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6012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800000"/>
                </a:solidFill>
                <a:latin typeface="Cambria"/>
              </a:defRPr>
            </a:pPr>
            <a:r>
              <a:rPr sz="1650" b="1">
                <a:solidFill>
                  <a:srgbClr val="800000"/>
                </a:solidFill>
                <a:latin typeface="Cambria"/>
              </a:rPr>
              <a:t>Member 2: SANJAYKUMAR S (7376232IT249) — ROLE: FRONTEND DEVELOPER &amp; SYSTEM INTEGRATION ENGINEER</a:t>
            </a:r>
          </a:p>
          <a:p>
            <a:pPr>
              <a:spcAft>
                <a:spcPts val="600"/>
              </a:spcAft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Project Execution under the guidance of Mr. Maheshkumar K, Assistant Professor Level II, Dept. of Computer Science and Design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1: </a:t>
            </a:r>
            <a:r>
              <a:rPr sz="1300" b="0">
                <a:solidFill>
                  <a:srgbClr val="000000"/>
                </a:solidFill>
                <a:latin typeface="Cambria"/>
              </a:rPr>
              <a:t>Conducted UI/UX benchmarking against Open Library and NDLI portals; created wireframes and user interaction flow diagrams.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2: </a:t>
            </a:r>
            <a:r>
              <a:rPr sz="1300" b="0">
                <a:solidFill>
                  <a:srgbClr val="000000"/>
                </a:solidFill>
                <a:latin typeface="Cambria"/>
              </a:rPr>
              <a:t>Engineered the responsive base layout with modern Bootstrap 5.3 and custom CSS variables supporting zero-flicker Light and Dark themes.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3: </a:t>
            </a:r>
            <a:r>
              <a:rPr sz="1300" b="0">
                <a:solidFill>
                  <a:srgbClr val="000000"/>
                </a:solidFill>
                <a:latin typeface="Cambria"/>
              </a:rPr>
              <a:t>Built the catalog omni-search interface, faceted category filters, and real-time physical availability shelf badges.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4: </a:t>
            </a:r>
            <a:r>
              <a:rPr sz="1300" b="0">
                <a:solidFill>
                  <a:srgbClr val="000000"/>
                </a:solidFill>
                <a:latin typeface="Cambria"/>
              </a:rPr>
              <a:t>Developed the in-browser e-book reading studio featuring customizable typography, dark mode, and audio narration.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5: </a:t>
            </a:r>
            <a:r>
              <a:rPr sz="1300" b="0">
                <a:solidFill>
                  <a:srgbClr val="000000"/>
                </a:solidFill>
                <a:latin typeface="Cambria"/>
              </a:rPr>
              <a:t>Implemented the Express Self-Checkout Kiosk with Html5-QRCode camera barcode scanning and the automated FIFO reservation hold allocation engine.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6: </a:t>
            </a:r>
            <a:r>
              <a:rPr sz="1300" b="0">
                <a:solidFill>
                  <a:srgbClr val="000000"/>
                </a:solidFill>
                <a:latin typeface="Cambria"/>
              </a:rPr>
              <a:t>Created the Member Bookshelf, Reading Challenge gamification cards, offline PWA library card, and seven analytical reports with CSV export.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7: </a:t>
            </a:r>
            <a:r>
              <a:rPr sz="1300" b="0">
                <a:solidFill>
                  <a:srgbClr val="000000"/>
                </a:solidFill>
                <a:latin typeface="Cambria"/>
              </a:rPr>
              <a:t>Executed end-to-end integration testing, CSRF validation, responsive layout adjustments, and comprehensive test suite verification (117 tests).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STATUS ON PARTIAL COMPLETION AND SUBMISSION OF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498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0000"/>
                </a:solidFill>
                <a:latin typeface="Cambria"/>
              </a:defRPr>
            </a:pPr>
            <a:r>
              <a:rPr sz="1500" b="1">
                <a:solidFill>
                  <a:srgbClr val="800000"/>
                </a:solidFill>
                <a:latin typeface="Cambria"/>
              </a:rPr>
              <a:t>List of Documents to be Submitted (Chapters 1 to 12)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097280"/>
          <a:ext cx="10515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4800600"/>
                <a:gridCol w="5029200"/>
              </a:tblGrid>
              <a:tr h="379827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SL.No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List of Documents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sz="1150" b="1">
                          <a:solidFill>
                            <a:srgbClr val="003399"/>
                          </a:solidFill>
                          <a:latin typeface="Cambria"/>
                        </a:rPr>
                        <a:t>Status ( Verification Details )</a:t>
                      </a:r>
                    </a:p>
                  </a:txBody>
                  <a:tcPr marL="73152" marR="73152" marT="36576" marB="36576"/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Cover Page &amp; Title Page (Both are in same format)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Completed (Formatted strictly as per BIT Academic Guidelines)</a:t>
                      </a:r>
                    </a:p>
                  </a:txBody>
                  <a:tcPr marL="73152" marR="73152" marT="36576" marB="36576"/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Bonafide Certificate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Completed (Endorsed by Guide Prof. Maheshkumar K &amp; HOD Dr. Prakash S P)</a:t>
                      </a:r>
                    </a:p>
                  </a:txBody>
                  <a:tcPr marL="73152" marR="73152" marT="36576" marB="36576"/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Declaration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Completed (Signed by Batch Members Subiksha Shree S &amp; Sanjaykumar S)</a:t>
                      </a:r>
                    </a:p>
                  </a:txBody>
                  <a:tcPr marL="73152" marR="73152" marT="36576" marB="36576"/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mbria"/>
                        </a:rPr>
                        <a:t>4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Acknowledgement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Completed (Institutional, Departmental &amp; Laboratory Acknowledgements)</a:t>
                      </a:r>
                    </a:p>
                  </a:txBody>
                  <a:tcPr marL="73152" marR="73152" marT="36576" marB="36576"/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mbria"/>
                        </a:rPr>
                        <a:t>5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Chapter 1 – Introduction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Completed (Problem Statement, Motivation, Scope, Objectives &amp; Contributions)</a:t>
                      </a:r>
                    </a:p>
                  </a:txBody>
                  <a:tcPr marL="73152" marR="73152" marT="36576" marB="36576"/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mbria"/>
                        </a:rPr>
                        <a:t>6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Chapter 2 – Literature Survey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Completed (Comparative Review of 15+ ILS, RFID &amp; Digital Reader Architectures)</a:t>
                      </a:r>
                    </a:p>
                  </a:txBody>
                  <a:tcPr marL="73152" marR="73152" marT="36576" marB="36576"/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mbria"/>
                        </a:rPr>
                        <a:t>7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Chapter 3 - Objectives and Methodology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Completed (Full MVT Architecture, Sprint Lifecycle &amp; Mathematical Model)</a:t>
                      </a:r>
                    </a:p>
                  </a:txBody>
                  <a:tcPr marL="73152" marR="73152" marT="36576" marB="36576"/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mbria"/>
                        </a:rPr>
                        <a:t>8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Chapter 4 - Proposed Work Modules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Completed (6 Functional Modules, Touchless Kiosk, Custom EPUB Engine &amp; ER Schema)</a:t>
                      </a:r>
                    </a:p>
                  </a:txBody>
                  <a:tcPr marL="73152" marR="73152" marT="36576" marB="36576"/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mbria"/>
                        </a:rPr>
                        <a:t>9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Chapter 5 - Results and Discussion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Completed (Performance Benchmarks: 28ms Avg Latency, 117 Tests Passing)</a:t>
                      </a:r>
                    </a:p>
                  </a:txBody>
                  <a:tcPr marL="73152" marR="73152" marT="36576" marB="36576"/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Chapter 6 - Conclusions &amp; Suggestions for Future Work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Completed (Impact Analysis, Operational ROI &amp; AI Vector Roadmap)</a:t>
                      </a:r>
                    </a:p>
                  </a:txBody>
                  <a:tcPr marL="73152" marR="73152" marT="36576" marB="36576"/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mbria"/>
                        </a:rPr>
                        <a:t>11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References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Completed (20+ Academic Citations strictly in IEEE Standard Format)</a:t>
                      </a:r>
                    </a:p>
                  </a:txBody>
                  <a:tcPr marL="73152" marR="73152" marT="36576" marB="36576"/>
                </a:tc>
              </a:tr>
              <a:tr h="3798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ambria"/>
                        </a:rPr>
                        <a:t>12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Appendices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Cambria"/>
                        </a:rPr>
                        <a:t>Completed (Database DDL, REST Endpoints, Screen Catalog &amp; Source Code Index)</a:t>
                      </a:r>
                    </a:p>
                  </a:txBody>
                  <a:tcPr marL="73152" marR="73152" marT="36576" marB="36576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99"/>
                </a:solidFill>
                <a:latin typeface="Cambria"/>
              </a:defRPr>
            </a:pPr>
            <a:r>
              <a:rPr sz="2400" b="1">
                <a:solidFill>
                  <a:srgbClr val="003399"/>
                </a:solidFill>
                <a:latin typeface="Cambria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800000"/>
                </a:solidFill>
                <a:latin typeface="Cambria"/>
              </a:defRPr>
            </a:pPr>
            <a:r>
              <a:rPr sz="1500" b="1">
                <a:solidFill>
                  <a:srgbClr val="800000"/>
                </a:solidFill>
                <a:latin typeface="Cambria"/>
              </a:rPr>
              <a:t>Journal Papers</a:t>
            </a:r>
          </a:p>
          <a:p>
            <a:pPr>
              <a:spcAft>
                <a:spcPts val="300"/>
              </a:spcAft>
              <a:defRPr sz="1150" b="0">
                <a:solidFill>
                  <a:srgbClr val="000000"/>
                </a:solidFill>
                <a:latin typeface="Cambria"/>
              </a:defRPr>
            </a:pPr>
            <a:r>
              <a:rPr sz="1150" b="0">
                <a:solidFill>
                  <a:srgbClr val="000000"/>
                </a:solidFill>
                <a:latin typeface="Cambria"/>
              </a:rPr>
              <a:t>[1] V. Kumar, “Cloud-Based Integrated Library Management Systems for Academic Resource Centers: Architecture, Performance, and Implementation,” International Journal of Information Management, vol. 63, p. 102450, 2022.</a:t>
            </a:r>
          </a:p>
          <a:p>
            <a:pPr>
              <a:spcAft>
                <a:spcPts val="300"/>
              </a:spcAft>
              <a:defRPr sz="1150" b="0">
                <a:solidFill>
                  <a:srgbClr val="000000"/>
                </a:solidFill>
                <a:latin typeface="Cambria"/>
              </a:defRPr>
            </a:pPr>
            <a:r>
              <a:rPr sz="1150" b="0">
                <a:solidFill>
                  <a:srgbClr val="000000"/>
                </a:solidFill>
                <a:latin typeface="Cambria"/>
              </a:rPr>
              <a:t>[2] R. Sharma, V. Kumar, and S. Patel, “Workflow Automation and Rule-Based Checkout Validation in Academic Library Circulation,” IEEE Transactions on Services Computing, vol. 14, no. 6, pp. 1920–1933, 2021.</a:t>
            </a:r>
          </a:p>
          <a:p>
            <a:pPr>
              <a:spcAft>
                <a:spcPts val="300"/>
              </a:spcAft>
              <a:defRPr sz="1150" b="0">
                <a:solidFill>
                  <a:srgbClr val="000000"/>
                </a:solidFill>
                <a:latin typeface="Cambria"/>
              </a:defRPr>
            </a:pPr>
            <a:r>
              <a:rPr sz="1150" b="0">
                <a:solidFill>
                  <a:srgbClr val="000000"/>
                </a:solidFill>
                <a:latin typeface="Cambria"/>
              </a:rPr>
              <a:t>[3] A. Fernandez, M. Gomez, and D. Perez, “Fine-Grained Role-Based Access Control and API Layer Enforcement in Modern Web Applications,” IEEE Transactions on Dependable and Secure Computing, vol. 19, no. 3, pp. 1845–1859, 2022.</a:t>
            </a:r>
          </a:p>
          <a:p>
            <a:pPr>
              <a:spcAft>
                <a:spcPts val="300"/>
              </a:spcAft>
              <a:defRPr sz="1150" b="0">
                <a:solidFill>
                  <a:srgbClr val="000000"/>
                </a:solidFill>
                <a:latin typeface="Cambria"/>
              </a:defRPr>
            </a:pPr>
            <a:r>
              <a:rPr sz="1150" b="0">
                <a:solidFill>
                  <a:srgbClr val="000000"/>
                </a:solidFill>
                <a:latin typeface="Cambria"/>
              </a:rPr>
              <a:t>[4] T. Harris and S. Kumar, “Camera-Based Barcode Recognition and Self-Service Kiosk Usability in Public Information Systems,” IEEE Access, vol. 10, pp. 41200–41212, 2022.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800000"/>
                </a:solidFill>
                <a:latin typeface="Cambria"/>
              </a:defRPr>
            </a:pPr>
            <a:r>
              <a:rPr sz="1500" b="1">
                <a:solidFill>
                  <a:srgbClr val="800000"/>
                </a:solidFill>
                <a:latin typeface="Cambria"/>
              </a:rPr>
              <a:t>Books</a:t>
            </a:r>
          </a:p>
          <a:p>
            <a:pPr>
              <a:spcAft>
                <a:spcPts val="300"/>
              </a:spcAft>
              <a:defRPr sz="1150" b="0">
                <a:solidFill>
                  <a:srgbClr val="000000"/>
                </a:solidFill>
                <a:latin typeface="Cambria"/>
              </a:defRPr>
            </a:pPr>
            <a:r>
              <a:rPr sz="1150" b="0">
                <a:solidFill>
                  <a:srgbClr val="000000"/>
                </a:solidFill>
                <a:latin typeface="Cambria"/>
              </a:rPr>
              <a:t>[5] A. Mele, Django 5 By Example: Build powerful and reliable Python web applications, 5th ed., Packt Publishing, 2024.</a:t>
            </a:r>
          </a:p>
          <a:p>
            <a:pPr>
              <a:spcAft>
                <a:spcPts val="300"/>
              </a:spcAft>
              <a:defRPr sz="1150" b="0">
                <a:solidFill>
                  <a:srgbClr val="000000"/>
                </a:solidFill>
                <a:latin typeface="Cambria"/>
              </a:defRPr>
            </a:pPr>
            <a:r>
              <a:rPr sz="1150" b="0">
                <a:solidFill>
                  <a:srgbClr val="000000"/>
                </a:solidFill>
                <a:latin typeface="Cambria"/>
              </a:rPr>
              <a:t>[6] M. Pilgrim, Dive Into HTML5 &amp; Open Web Standards, O'Reilly Media, 2021.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800000"/>
                </a:solidFill>
                <a:latin typeface="Cambria"/>
              </a:defRPr>
            </a:pPr>
            <a:r>
              <a:rPr sz="1500" b="1">
                <a:solidFill>
                  <a:srgbClr val="800000"/>
                </a:solidFill>
                <a:latin typeface="Cambria"/>
              </a:rPr>
              <a:t>Websites</a:t>
            </a:r>
          </a:p>
          <a:p>
            <a:pPr>
              <a:spcAft>
                <a:spcPts val="300"/>
              </a:spcAft>
              <a:defRPr sz="1150" b="0">
                <a:solidFill>
                  <a:srgbClr val="000000"/>
                </a:solidFill>
                <a:latin typeface="Cambria"/>
              </a:defRPr>
            </a:pPr>
            <a:r>
              <a:rPr sz="1150" b="0">
                <a:solidFill>
                  <a:srgbClr val="000000"/>
                </a:solidFill>
                <a:latin typeface="Cambria"/>
              </a:rPr>
              <a:t>[7] "Django 6.0 Enterprise Web Framework Documentation and Transaction Integrity," 2026. [Online]. Available: https://docs.djangoproject.com/</a:t>
            </a:r>
          </a:p>
          <a:p>
            <a:pPr>
              <a:spcAft>
                <a:spcPts val="300"/>
              </a:spcAft>
              <a:defRPr sz="1150" b="0">
                <a:solidFill>
                  <a:srgbClr val="000000"/>
                </a:solidFill>
                <a:latin typeface="Cambria"/>
              </a:defRPr>
            </a:pPr>
            <a:r>
              <a:rPr sz="1150" b="0">
                <a:solidFill>
                  <a:srgbClr val="000000"/>
                </a:solidFill>
                <a:latin typeface="Cambria"/>
              </a:rPr>
              <a:t>[8] "W3C EPUB 3.3 Specification &amp; Open Container Format for Reflowable Digital Publications," 2023. [Online]. Available: https://www.w3.org/TR/epub-33/</a:t>
            </a:r>
          </a:p>
          <a:p>
            <a:pPr>
              <a:spcAft>
                <a:spcPts val="300"/>
              </a:spcAft>
              <a:defRPr sz="1150" b="0">
                <a:solidFill>
                  <a:srgbClr val="000000"/>
                </a:solidFill>
                <a:latin typeface="Cambria"/>
              </a:defRPr>
            </a:pPr>
            <a:r>
              <a:rPr sz="1150" b="0">
                <a:solidFill>
                  <a:srgbClr val="000000"/>
                </a:solidFill>
                <a:latin typeface="Cambria"/>
              </a:rPr>
              <a:t>[9] "Html5-QRCode: Cross-Platform Camera-Based Barcode Scanner Library," 2025. [Online]. Available: https://github.com/mebjas/html5-qrcode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0">
                <a:solidFill>
                  <a:srgbClr val="464646"/>
                </a:solidFill>
                <a:latin typeface="Cambria"/>
              </a:defRPr>
            </a:pPr>
            <a:r>
              <a:rPr sz="1250" b="0">
                <a:solidFill>
                  <a:srgbClr val="464646"/>
                </a:solidFill>
                <a:latin typeface="Cambria"/>
              </a:rPr>
              <a:t>30-10-2026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1648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50" b="1">
                <a:solidFill>
                  <a:srgbClr val="003399"/>
                </a:solidFill>
                <a:latin typeface="Cambria"/>
              </a:defRPr>
            </a:pPr>
            <a:r>
              <a:rPr sz="1250" b="1">
                <a:solidFill>
                  <a:srgbClr val="003399"/>
                </a:solidFill>
                <a:latin typeface="Cambria"/>
              </a:rPr>
              <a:t>FINAL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55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464646"/>
                </a:solidFill>
                <a:latin typeface="Cambria"/>
              </a:defRPr>
            </a:pPr>
            <a:r>
              <a:rPr sz="1250" b="1">
                <a:solidFill>
                  <a:srgbClr val="464646"/>
                </a:solidFill>
                <a:latin typeface="Cambria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