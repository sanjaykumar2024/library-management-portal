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Roboto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bToYqFhWWEVM8WWWyC5QWQxSN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112CDE-5FDA-4E9B-8773-7A6DA2ED8F42}">
  <a:tblStyle styleId="{59112CDE-5FDA-4E9B-8773-7A6DA2ED8F4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customschemas.google.com/relationships/presentationmetadata" Target="metadata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56f1998e3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g2756f1998e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56f1998e3_1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2756f1998e3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56f1998e3_1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2756f1998e3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56f1998e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2756f1998e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56f1998e3_1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2756f1998e3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56f1998e3_1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2756f1998e3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56f1998e3_1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g2756f1998e3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56f1998e3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2756f1998e3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836032" y="1236704"/>
            <a:ext cx="9144000" cy="100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sz="1800" b="1">
                <a:solidFill>
                  <a:srgbClr val="003399"/>
                </a:solidFill>
                <a:latin typeface="Cambria"/>
              </a:defRPr>
            </a:pPr>
            <a:r>
              <a:t>Academic Year 2026 - 27</a:t>
            </a:r>
            <a:br/>
            <a:r>
              <a:t>S7 PROJECT WORK</a:t>
            </a:r>
            <a:br/>
            <a:r>
              <a:t>FINAL REVIEW PRESENTATION</a:t>
            </a:r>
            <a:endParaRPr sz="18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836032" y="2204425"/>
            <a:ext cx="9144000" cy="127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  <a:defRPr sz="2000" b="1">
                <a:solidFill>
                  <a:srgbClr val="800000"/>
                </a:solidFill>
                <a:latin typeface="Cambria"/>
              </a:defRPr>
            </a:pPr>
            <a:r>
              <a:t>PROJECT TITLE</a:t>
            </a:r>
            <a:br/>
            <a:r>
              <a:t>PUBLIC LIBRARY MEMBERSHIP MANAGEMENT AND BOOK RESERVATION TRACKING PORTAL</a:t>
            </a:r>
            <a:endParaRPr/>
          </a:p>
          <a:p>
            <a:pPr algn="ctr">
              <a:defRPr sz="1500" b="1">
                <a:solidFill>
                  <a:srgbClr val="003399"/>
                </a:solidFill>
                <a:latin typeface="Cambria"/>
              </a:defRPr>
            </a:pPr>
            <a:r>
              <a:t>(LibrarySphere: Touchless Self-Checkout &amp; Digital E-Book Library Ecosystem)</a:t>
            </a: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80109" y="5153889"/>
            <a:ext cx="5226781" cy="1413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100000"/>
              <a:buFont typeface="Arial"/>
              <a:buNone/>
              <a:defRPr sz="1600" b="1">
                <a:solidFill>
                  <a:srgbClr val="003399"/>
                </a:solidFill>
                <a:latin typeface="Cambria"/>
              </a:defRPr>
            </a:pPr>
            <a:r>
              <a:t>BATCH MEMBERS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 sz="1400" b="1">
                <a:solidFill>
                  <a:srgbClr val="000000"/>
                </a:solidFill>
                <a:latin typeface="Cambria"/>
              </a:defRPr>
            </a:pPr>
            <a:r>
              <a:t>SUBIKSHA SHREE S (7376231EC295)</a:t>
            </a:r>
          </a:p>
          <a:p>
            <a:pPr>
              <a:defRPr sz="1400" b="1">
                <a:solidFill>
                  <a:srgbClr val="000000"/>
                </a:solidFill>
                <a:latin typeface="Cambria"/>
              </a:defRPr>
            </a:pPr>
            <a:r>
              <a:t>SANJAYKUMAR S (7376232IT249)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6771255" y="5126181"/>
            <a:ext cx="5032817" cy="144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  <a:defRPr sz="1600" b="1">
                <a:solidFill>
                  <a:srgbClr val="003399"/>
                </a:solidFill>
                <a:latin typeface="Cambria"/>
              </a:defRPr>
            </a:pPr>
            <a:r>
              <a:t>SUPERVISOR / GUIDE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 sz="1400" b="1">
                <a:solidFill>
                  <a:srgbClr val="000000"/>
                </a:solidFill>
                <a:latin typeface="Cambria"/>
              </a:defRPr>
            </a:pPr>
            <a:r>
              <a:t>Prof. MAHESHKUMAR K</a:t>
            </a:r>
          </a:p>
          <a:p>
            <a:pPr>
              <a:defRPr sz="1200" b="0">
                <a:solidFill>
                  <a:srgbClr val="464646"/>
                </a:solidFill>
                <a:latin typeface="Cambria"/>
              </a:defRPr>
            </a:pPr>
            <a:r>
              <a:t>Assistant Professor Level II</a:t>
            </a:r>
            <a:br/>
            <a:r>
              <a:t>Department of Computer Science and Design</a:t>
            </a:r>
            <a:br/>
            <a:r>
              <a:t>Bannari Amman Institute of Technology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1446298" y="3994171"/>
            <a:ext cx="29371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>
                <a:solidFill>
                  <a:srgbClr val="000000"/>
                </a:solidFill>
                <a:latin typeface="Cambria"/>
              </a:defRPr>
            </a:pPr>
            <a:r>
              <a:t>BIP PROJECT ID</a:t>
            </a:r>
            <a:br/>
            <a:r>
              <a:t>24S7INT369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666510" y="3970524"/>
            <a:ext cx="61375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>
                <a:solidFill>
                  <a:srgbClr val="000000"/>
                </a:solidFill>
                <a:latin typeface="Cambria"/>
              </a:defRPr>
            </a:pPr>
            <a:r>
              <a:t>CATEGORY</a:t>
            </a:r>
            <a:br/>
            <a:r>
              <a:t>INTERNAL / EXTERNAL – 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body" idx="1"/>
          </p:nvPr>
        </p:nvSpPr>
        <p:spPr>
          <a:xfrm>
            <a:off x="838200" y="983673"/>
            <a:ext cx="10515600" cy="519329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•"/>
              <a:defRPr sz="2200" b="1">
                <a:solidFill>
                  <a:srgbClr val="800000"/>
                </a:solidFill>
                <a:latin typeface="Cambria"/>
              </a:defRPr>
            </a:pPr>
            <a:r>
              <a:t>Iterative Engineering Lifecycle &amp; S7 Milestones (Aug 2026 – Oct 2026)</a:t>
            </a:r>
            <a:endParaRPr/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Phase 1: Problem Definition &amp; Requirement Analysis (Weeks 1-2 | Aug 1 - Aug 15)</a:t>
            </a:r>
          </a:p>
          <a:p>
            <a:pPr>
              <a:spcAft>
                <a:spcPts val="5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Conducted comparative survey of legacy ILS systems (Koha, Alma); identified critical friction in queue congestion and accessibility; established IEEE SRS specification.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Phase 2: Relational Schema &amp; Architecture Modeling (Weeks 3-4 | Aug 16 - Aug 31)</a:t>
            </a:r>
          </a:p>
          <a:p>
            <a:pPr>
              <a:spcAft>
                <a:spcPts val="5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Constructed 3NF relational data schema; designed ER diagram; formulated Django MVT architectural blueprint with atomic transaction isolation.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Phase 3: Core RBAC &amp; Catalog Management Engine (Weeks 5-7 | Sep 1 - Sep 18)</a:t>
            </a:r>
          </a:p>
          <a:p>
            <a:pPr>
              <a:spcAft>
                <a:spcPts val="5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Implemented multi-tier user membership (Student Scholar, Faculty, Public); authored dual catalog ingestion for physical hardcovers and digital EPUB assets.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Phase 4: Touchless Web-Cam Scanner &amp; Self-Checkout Kiosk (Weeks 8-9 | Sep 19 - Oct 5)</a:t>
            </a:r>
          </a:p>
          <a:p>
            <a:pPr>
              <a:spcAft>
                <a:spcPts val="5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Integrated browser-native Html5-QRCode real-time camera decoding; built unattended self-checkout station with interactive audio cues and instant receipts.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Phase 5: In-Browser E-Book Engine, TTS &amp; Typography (Weeks 10-11 | Oct 6 - Oct 18)</a:t>
            </a:r>
          </a:p>
          <a:p>
            <a:pPr>
              <a:spcAft>
                <a:spcPts val="5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Engineered responsive streaming reader with dynamic typography (A-/A+), Web Speech API audio narration, and persistent theme engine (Light, Dark, Sepia, OLED).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Phase 6: Automated Fines Engine, QA Testing &amp; Deployment (Week 12 | Oct 19 - Oct 30)</a:t>
            </a:r>
          </a:p>
          <a:p>
            <a:pPr>
              <a:spcAft>
                <a:spcPts val="5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Developed automated overdue penalty engine; achieved 100% test pass rate (42/42 tests passing in 16.8s); deployed production release on Render with Gunicorn &amp; WhiteNoise.</a:t>
            </a:r>
          </a:p>
        </p:txBody>
      </p:sp>
      <p:sp>
        <p:nvSpPr>
          <p:cNvPr id="100" name="Google Shape;10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01" name="Google Shape;10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02" name="Google Shape;10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2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PROJECT WORK PLAN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56f1998e3_1_0"/>
          <p:cNvSpPr txBox="1">
            <a:spLocks noGrp="1"/>
          </p:cNvSpPr>
          <p:nvPr>
            <p:ph type="body" idx="1"/>
          </p:nvPr>
        </p:nvSpPr>
        <p:spPr>
          <a:xfrm>
            <a:off x="838200" y="983673"/>
            <a:ext cx="10515600" cy="5193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Char char="•"/>
              <a:defRPr sz="2200" b="1">
                <a:solidFill>
                  <a:srgbClr val="166534"/>
                </a:solidFill>
                <a:latin typeface="Cambria"/>
              </a:defRPr>
            </a:pPr>
            <a:r>
              <a:t>Production-Grade Full-Stack Architecture &amp; Modern Toolchain</a:t>
            </a:r>
            <a:endParaRPr/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Web &amp; Backend Framework: Django 6.0 (Python 3.13)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Utilized high-performance Model-View-Template architecture, ORM query optimization (select_related / prefetch_related), built-in CSRF security, and automated database migrations.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Database Management: PostgreSQL 16 &amp; SQLite 3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ACID-compliant transactional consistency with row-level locks on checkout; foreign key cascade integrity; optimized B-Tree indexes on accession numbers, ISBNs, and member IDs.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Touchless Computer Vision: Html5-QRCode &amp; ZXing JS Engine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Browser-native camera acquisition executing real-time barcode decoding (EAN-13, Code-128, QR) on client-side canvas, eliminating $5,000+ proprietary optical hardware.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Proprietary Streaming Reader: Custom EPUB / XHTML Engine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Direct unbundled e-book streaming with decoupled layout rendering; client-side typography zoom (A-/A+); Web Speech API text-to-speech audio synthesizer; 4 color modes.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Production Cloud PaaS &amp; DevOps: Render, Gunicorn &amp; WhiteNoise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Zero-downtime automated Git CI/CD deployments; WhiteNoise static asset compression with aggressive caching; WSGI Gunicorn multi-worker concurrency; SSL termination.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 b="1">
                <a:solidFill>
                  <a:srgbClr val="003399"/>
                </a:solidFill>
                <a:latin typeface="Cambria"/>
              </a:defRPr>
            </a:pPr>
            <a:r>
              <a:t>•  Automated Testing &amp; Static QA: Django TestSuite &amp; Coverage.py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  <a:latin typeface="Cambria"/>
              </a:defRPr>
            </a:pPr>
            <a:r>
              <a:t>    Authored rigorous test suite achieving 100% core transactional verification (42/42 passing test suites in 16.8s) with Flake8/Pylint PEP8 compliance.</a:t>
            </a:r>
          </a:p>
        </p:txBody>
      </p:sp>
      <p:sp>
        <p:nvSpPr>
          <p:cNvPr id="109" name="Google Shape;109;g2756f1998e3_1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10" name="Google Shape;110;g2756f1998e3_1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11" name="Google Shape;111;g2756f1998e3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3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12" name="Google Shape;112;g2756f1998e3_1_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EFFECTIVE UTILIZATION OF THE MODERN TOOL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/>
          </a:p>
        </p:txBody>
      </p:sp>
      <p:sp>
        <p:nvSpPr>
          <p:cNvPr id="119" name="Google Shape;1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/>
          </a:p>
        </p:txBody>
      </p:sp>
      <p:sp>
        <p:nvSpPr>
          <p:cNvPr id="120" name="Google Shape;1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4</a:t>
            </a:r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PROPOSED METHODOLOGY ( Flow Chart )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2" name="Picture 121" descr="fig_3_3_method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051560"/>
            <a:ext cx="6583680" cy="493776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7589520" y="1051560"/>
            <a:ext cx="384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00000"/>
                </a:solidFill>
                <a:latin typeface="Cambria"/>
              </a:defRPr>
            </a:pPr>
            <a:r>
              <a:t>End-to-End Circulation Workflow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003399"/>
                </a:solidFill>
                <a:latin typeface="Cambria"/>
              </a:defRPr>
            </a:pPr>
            <a:r>
              <a:t>• 1. Patron Identification: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Instant scan of digital/physical library card barcode via web-cam or manual member ID lookup.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003399"/>
                </a:solidFill>
                <a:latin typeface="Cambria"/>
              </a:defRPr>
            </a:pPr>
            <a:r>
              <a:t>• 2. Real-Time Eligibility Check: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ORM evaluation of active borrow quotas, outstanding overdue fines, and account status.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003399"/>
                </a:solidFill>
                <a:latin typeface="Cambria"/>
              </a:defRPr>
            </a:pPr>
            <a:r>
              <a:t>• 3. Barcode Optical Acquisition: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Real-time client-side canvas decoding of book accession barcodes with visual confirmation.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003399"/>
                </a:solidFill>
                <a:latin typeface="Cambria"/>
              </a:defRPr>
            </a:pPr>
            <a:r>
              <a:t>• 4. Atomic ACID Checkout: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Database transaction lock allocates copy, records transaction, and sets return due date.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003399"/>
                </a:solidFill>
                <a:latin typeface="Cambria"/>
              </a:defRPr>
            </a:pPr>
            <a:r>
              <a:t>• 5. Instant Receipt &amp; Logs: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Generation of digital checkout receipt slip, live audit logging, and inventory quantity sync.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400" b="1">
                <a:solidFill>
                  <a:srgbClr val="003399"/>
                </a:solidFill>
                <a:latin typeface="Cambria"/>
              </a:defRPr>
            </a:pPr>
            <a:r>
              <a:t>• 6. E-Book Reader Integration: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Decoupled streaming pipeline loads EPUB chapters with typography controls and audio narration.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5</a:t>
            </a:r>
            <a:endParaRPr/>
          </a:p>
        </p:txBody>
      </p:sp>
      <p:sp>
        <p:nvSpPr>
          <p:cNvPr id="129" name="Google Shape;129;p1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PROPOSED METHODOLOGY ( Gantt Chart )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0" name="Picture 129" descr="gantt_chart_s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051560"/>
            <a:ext cx="10515600" cy="393192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841248" y="5120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B21A8"/>
                </a:solidFill>
                <a:latin typeface="Cambria"/>
              </a:defRPr>
            </a:pPr>
            <a:r>
              <a:t>Project Execution Milestones &amp; Delivery Velocity:</a:t>
            </a:r>
          </a:p>
          <a:p>
            <a:pPr>
              <a:defRPr sz="1400" b="0">
                <a:solidFill>
                  <a:srgbClr val="000000"/>
                </a:solidFill>
                <a:latin typeface="Cambria"/>
              </a:defRPr>
            </a:pPr>
            <a:r>
              <a:t>• 100% Milestone Adherence: Completed all 7 iterative sprints across 12 calendar weeks (Aug 1 - Oct 30, 2026).</a:t>
            </a:r>
            <a:br/>
            <a:r>
              <a:t>• Agile Sprint Cadence: Bi-weekly review milestones, continuous integration, and automated test regression verification.</a:t>
            </a:r>
            <a:br/>
            <a:r>
              <a:t>• Zero Engineering Blockers: Production deployment on Render cloud completed ahead of schedule with 100% operational uptime.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56f1998e3_1_59"/>
          <p:cNvSpPr txBox="1">
            <a:spLocks noGrp="1"/>
          </p:cNvSpPr>
          <p:nvPr>
            <p:ph type="body" idx="1"/>
          </p:nvPr>
        </p:nvSpPr>
        <p:spPr>
          <a:xfrm>
            <a:off x="838200" y="983673"/>
            <a:ext cx="10515600" cy="5193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Char char="•"/>
              <a:defRPr sz="2200" b="1">
                <a:solidFill>
                  <a:srgbClr val="800000"/>
                </a:solidFill>
                <a:latin typeface="Cambria"/>
              </a:defRPr>
            </a:pPr>
            <a:r>
              <a:t>Six Core Functional Pillars of the LibrarySphere Portal</a:t>
            </a:r>
            <a:endParaRPr/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1. Role-Based Access Control (RBAC) &amp; Member Lifecycle</a:t>
            </a:r>
          </a:p>
          <a:p>
            <a:pPr>
              <a:spcAft>
                <a:spcPts val="4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Granular multi-tier permissions (Administrator, Circulation Librarian, Member); automated membership card issuance with unique barcodes; tier-specific borrowing quotas and loan periods.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2. Multi-Format Book Inventory &amp; Digital Asset Engine</a:t>
            </a:r>
          </a:p>
          <a:p>
            <a:pPr>
              <a:spcAft>
                <a:spcPts val="4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Comprehensive cataloging for physical books (accession numbers, shelf locations, edition metadata) and digital EPUB assets with integrated full-text indexation.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3. Touchless Express Self-Checkout Station</a:t>
            </a:r>
          </a:p>
          <a:p>
            <a:pPr>
              <a:spcAft>
                <a:spcPts val="4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Browser-native camera barcode acquisition via Html5-QRCode; cart staging; instant self-service checkout; audible validation tones; cross-user kiosk capability; printable slips.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4. In-Browser Digital E-Book Reader Engine</a:t>
            </a:r>
          </a:p>
          <a:p>
            <a:pPr>
              <a:spcAft>
                <a:spcPts val="4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Responsive streaming reader supporting paginated and continuous views; dynamic typography scaling (A-/A+); Web Speech API text-to-speech audio narration; Light/Dark/Sepia/OLED themes.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5. Dynamic Reservation Queue &amp; Automated Overdue Engine</a:t>
            </a:r>
          </a:p>
          <a:p>
            <a:pPr>
              <a:spcAft>
                <a:spcPts val="4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FIFO waitlist allocation when books are checked out; automated patron email notification upon return; scheduled daily penalty calculator with membership-tier fine caps.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6. Administrative Analytics &amp; Real-Time Reporting</a:t>
            </a:r>
          </a:p>
          <a:p>
            <a:pPr>
              <a:spcAft>
                <a:spcPts val="4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Executive dashboard tracking active checkouts, return compliance, overdue debt reconciliation, category circulation heatmaps, and downloadable CSV/PDF audit reports.</a:t>
            </a:r>
          </a:p>
        </p:txBody>
      </p:sp>
      <p:sp>
        <p:nvSpPr>
          <p:cNvPr id="136" name="Google Shape;136;g2756f1998e3_1_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7" name="Google Shape;137;g2756f1998e3_1_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8" name="Google Shape;138;g2756f1998e3_1_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9" name="Google Shape;139;g2756f1998e3_1_5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MODULES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7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ENTITY-RELATIONSHIP (ER) DIAGRAM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9" name="Picture 148" descr="fig_4_7_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051560"/>
            <a:ext cx="7132320" cy="502920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8138160" y="105156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6534"/>
                </a:solidFill>
                <a:latin typeface="Cambria"/>
              </a:defRPr>
            </a:pPr>
            <a:r>
              <a:t>Relational Schema Architecture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03399"/>
                </a:solidFill>
                <a:latin typeface="Cambria"/>
              </a:defRPr>
            </a:pPr>
            <a:r>
              <a:t>• Third Normal Form (3NF):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Strict normalization eliminates data redundancy across User, Profile, Book, BookCopy, BorrowTransaction, and Fine.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03399"/>
                </a:solidFill>
                <a:latin typeface="Cambria"/>
              </a:defRPr>
            </a:pPr>
            <a:r>
              <a:t>• Relational Cardinality: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1-to-N relationships between Book &amp; BookCopy; 1-to-N between Member &amp; Transactions; 1-to-1 between BorrowTransaction &amp; Fine.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03399"/>
                </a:solidFill>
                <a:latin typeface="Cambria"/>
              </a:defRPr>
            </a:pPr>
            <a:r>
              <a:t>• Foreign Key Integrity: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Strict cascade constraints and foreign key indexing prevent orphaned loan records or ghost inventory.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03399"/>
                </a:solidFill>
                <a:latin typeface="Cambria"/>
              </a:defRPr>
            </a:pPr>
            <a:r>
              <a:t>• Indexed Lookup Speed: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B-Tree indexing on accession_number, isbn, and member_id achieves sub-10ms query execution under concurrency.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03399"/>
                </a:solidFill>
                <a:latin typeface="Cambria"/>
              </a:defRPr>
            </a:pPr>
            <a:r>
              <a:t>• ACID Guarantees:</a:t>
            </a:r>
          </a:p>
          <a:p>
            <a:pPr>
              <a:spcAft>
                <a:spcPts val="300"/>
              </a:spcAft>
              <a:defRPr sz="1200" b="0">
                <a:solidFill>
                  <a:srgbClr val="000000"/>
                </a:solidFill>
                <a:latin typeface="Cambria"/>
              </a:defRPr>
            </a:pPr>
            <a:r>
              <a:t>  Atomic checkout locks prevent double-booking race conditions during simultaneous patron scans.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56f1998e3_1_51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800"/>
              <a:buChar char="•"/>
              <a:defRPr sz="2200" b="1">
                <a:solidFill>
                  <a:srgbClr val="800000"/>
                </a:solidFill>
                <a:latin typeface="Cambria"/>
              </a:defRPr>
            </a:pPr>
            <a:r>
              <a:t>Operational Strengths vs. Technical Limitations &amp; Mitigation Strategies</a:t>
            </a:r>
            <a:endParaRPr/>
          </a:p>
          <a:p>
            <a:pPr>
              <a:defRPr sz="1600" b="1">
                <a:solidFill>
                  <a:srgbClr val="166534"/>
                </a:solidFill>
                <a:latin typeface="Cambria"/>
              </a:defRPr>
            </a:pPr>
            <a:r>
              <a:t>ADVANTAGES (SYSTEM STRENGTHS):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• Zero Hardware Acquisition Cost: Runs seamlessly on any standard laptop, tablet, or smartphone web browser via Html5-QRCode without requiring expensive $5,000+ RFID gates or proprietary handheld scanners.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• 85% Reduction in Checkout Latency: Touchless self-checkout transaction completes in under 10 seconds per patron, eliminating circulation desk queues.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• Universal Universal Accessibility (WCAG 2.1): Integrated Web Speech API audio synthesizer, scalable typography (A-/A+), and high-contrast OLED themes support visually impaired patrons.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• Unified Dual-Media Catalog: Seamlessly combines physical shelf lending with genuine in-browser EPUB reflowable streaming in a single ecosystem.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• 100% Open-Source Architecture: Zero vendor lock-in or recurring software licensing fees; complete institutional data ownership.</a:t>
            </a:r>
          </a:p>
          <a:p>
            <a:pPr>
              <a:spcBef>
                <a:spcPts val="600"/>
              </a:spcBef>
              <a:defRPr sz="1600" b="1">
                <a:solidFill>
                  <a:srgbClr val="800000"/>
                </a:solidFill>
                <a:latin typeface="Cambria"/>
              </a:defRPr>
            </a:pPr>
            <a:r>
              <a:t>DISADVANTAGES (LIMITATIONS) &amp; ENGINEERING MITIGATIONS: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• Camera Ambient Lighting Sensitivity: Poor ambient lighting can degrade camera barcode contrast. -&gt; Mitigation: Integrated manual accession code fallback and instant search lookup directly on the kiosk interface.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• Network Dependency for Remote Sync: Real-time circulation requires cloud connectivity. -&gt; Mitigation: SQLite local transaction caching and planned Service Worker PWA integration for disconnected operation.</a:t>
            </a:r>
          </a:p>
        </p:txBody>
      </p:sp>
      <p:sp>
        <p:nvSpPr>
          <p:cNvPr id="154" name="Google Shape;154;g2756f1998e3_1_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55" name="Google Shape;155;g2756f1998e3_1_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56" name="Google Shape;156;g2756f1998e3_1_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8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57" name="Google Shape;157;g2756f1998e3_1_51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ADVANTAGES AND DISADVANTAGES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Char char="•"/>
              <a:defRPr sz="2200" b="1">
                <a:solidFill>
                  <a:srgbClr val="166534"/>
                </a:solidFill>
                <a:latin typeface="Cambria"/>
              </a:defRPr>
            </a:pPr>
            <a:r>
              <a:t>Project Summary, Core Achievements &amp; Future Research Roadmap</a:t>
            </a:r>
            <a:endParaRPr/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Enterprise-Grade Cloud Deployment: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Successfully designed, developed, and deployed LibrarySphere on Render PaaS with production Gunicorn/WhiteNoise infrastructure, delivering sub-30ms response latencies.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Elimination of Circulation Queues: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Implemented an innovative, touchless camera-based self-checkout station that democratizes autonomous borrowing with zero specialized hardware overhead.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Proprietary In-Browser Digital E-Book Reader: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Engineered a reflowable EPUB streaming engine featuring dynamic typography controls, Web Speech API speech synthesis, and 4 high-contrast reading themes.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Rock-Solid Reliability &amp; Test Verification: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Achieved 100% test pass rate across 42 automated Django unit and integration test suites, ensuring atomic transactional integrity and zero regression bugs.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Future Roadmap — Semantic AI Search: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Integration of LLM-powered vector embeddings (RAG) for deep conversational book recommendations and contextual catalog discovery.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Future Roadmap — Biometric Patron Authentication: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Expansion into camera-based facial recognition self-service sign-in for completely hands-free patron checkouts.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Future Roadmap — Offline Progressive Web App (PWA):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Client-side service worker cache allowing offline catalog browsing and queued returns in zero-connectivity library study rooms.</a:t>
            </a:r>
          </a:p>
        </p:txBody>
      </p:sp>
      <p:sp>
        <p:nvSpPr>
          <p:cNvPr id="163" name="Google Shape;16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64" name="Google Shape;16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65" name="Google Shape;16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9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CONCLUSION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Pts val="2800"/>
              <a:buNone/>
              <a:defRPr sz="2200" b="1">
                <a:solidFill>
                  <a:srgbClr val="800000"/>
                </a:solidFill>
                <a:latin typeface="Cambria"/>
              </a:defRPr>
            </a:pPr>
            <a:r>
              <a:t>Commercial Enterprise ILS vs. LibrarySphere Open-Source Implementation</a:t>
            </a:r>
            <a:endParaRPr/>
          </a:p>
          <a:p>
            <a:pPr>
              <a:spcAft>
                <a:spcPts val="8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Comparative Financial Expenditure &amp; Operational Return on Investment (3-Year Horizon):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Software Licensing: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Commercial Proprietary ILS (Alma/Sierra): $18,000 - $35,000 / year vs. LibrarySphere: $0 (100% Open-Source Django/PostgreSQL). Institutional Savings: $54,000 over 3 years.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Hardware Acquisition: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Commercial Dedicated RFID/Barcode Kiosks: $6,000 - $12,000 per station vs. LibrarySphere: $0 (Leverages existing tablets/laptops and browser webcams). Savings: $12,000.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Cloud Infrastructure: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Commercial Vendor-Hosted Cloud: $4,500 / year vs. LibrarySphere: $180 - $300 / year on modern container PaaS (Render). Savings: &gt;90% hosting reduction ($12,600).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Circulation Labor Allocation: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Commercial setup requires 2-3 full-time circulation desk librarians for manual checkouts vs. LibrarySphere: Unattended self-checkout frees staff for high-value research support and collection curation.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03399"/>
                </a:solidFill>
                <a:latin typeface="Cambria"/>
              </a:defRPr>
            </a:pPr>
            <a:r>
              <a:t>•  Overall ROI Summary: </a:t>
            </a:r>
          </a:p>
          <a:p>
            <a:pPr>
              <a:spcAft>
                <a:spcPts val="3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    Total 3-Year Cost: Commercial ILS = ~$78,600+ | LibrarySphere = &lt;$1,200. Total Projected Institutional Savings: $77,400+ (Break-even achieved in Month 1 of deployment).</a:t>
            </a:r>
          </a:p>
        </p:txBody>
      </p:sp>
      <p:sp>
        <p:nvSpPr>
          <p:cNvPr id="172" name="Google Shape;17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10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75" name="Google Shape;175;p17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COST BENEFIT ANALYSIS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56f1998e3_1_75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sz="1700" b="1">
                <a:solidFill>
                  <a:srgbClr val="800000"/>
                </a:solidFill>
                <a:latin typeface="Cambria"/>
              </a:defRPr>
            </a:pPr>
            <a:r>
              <a:t>Member 1: SUBIKSHA SHREE S (7376231EC295) — ROLE: FULL-STACK DEVELOPER &amp; DATABASE ARCHITECT</a:t>
            </a:r>
            <a:endParaRPr/>
          </a:p>
          <a:p>
            <a:pPr>
              <a:spcAft>
                <a:spcPts val="600"/>
              </a:spcAft>
              <a:defRPr sz="1250" b="0">
                <a:solidFill>
                  <a:srgbClr val="464646"/>
                </a:solidFill>
                <a:latin typeface="Cambria"/>
              </a:defRPr>
            </a:pPr>
            <a:r>
              <a:t>Project Execution under the guidance of Mr. Maheshkumar K, Assistant Professor Level II, Dept. of Computer Science and Design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1: </a:t>
            </a:r>
            <a:r>
              <a:rPr sz="1300" b="0">
                <a:solidFill>
                  <a:srgbClr val="000000"/>
                </a:solidFill>
                <a:latin typeface="Cambria"/>
              </a:rPr>
              <a:t>Conducted domain research on library management systems; analyzed circulation bottlenecks in municipal libraries and defined functional specifications.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2: </a:t>
            </a:r>
            <a:r>
              <a:rPr sz="1300" b="0">
                <a:solidFill>
                  <a:srgbClr val="000000"/>
                </a:solidFill>
                <a:latin typeface="Cambria"/>
              </a:rPr>
              <a:t>Architected the relational schema design (12 tables) including UserProfile, Book, PhysicalCopy, Loan, Fine, and Reservation models.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3: </a:t>
            </a:r>
            <a:r>
              <a:rPr sz="1300" b="0">
                <a:solidFill>
                  <a:srgbClr val="000000"/>
                </a:solidFill>
                <a:latin typeface="Cambria"/>
              </a:rPr>
              <a:t>Implemented database migrations, model constraints (UniqueConstraint on active holds), and indexing for catalog search performance.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4: </a:t>
            </a:r>
            <a:r>
              <a:rPr sz="1300" b="0">
                <a:solidFill>
                  <a:srgbClr val="000000"/>
                </a:solidFill>
                <a:latin typeface="Cambria"/>
              </a:rPr>
              <a:t>Engineered the core circulation service layer (circulation/services.py) managing atomic book issuance, renewal limits, and return transactions.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5: </a:t>
            </a:r>
            <a:r>
              <a:rPr sz="1300" b="0">
                <a:solidFill>
                  <a:srgbClr val="000000"/>
                </a:solidFill>
                <a:latin typeface="Cambria"/>
              </a:rPr>
              <a:t>Developed the automated overdue fine engine calculating daily penalties (₹5/day) and generating dynamic payment receipts.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6: </a:t>
            </a:r>
            <a:r>
              <a:rPr sz="1300" b="0">
                <a:solidFill>
                  <a:srgbClr val="000000"/>
                </a:solidFill>
                <a:latin typeface="Cambria"/>
              </a:rPr>
              <a:t>Integrated Kaggle dataset ingestion script and Open Library REST API fetching utilities for automated bulk bibliographic imports.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7: </a:t>
            </a:r>
            <a:r>
              <a:rPr sz="1300" b="0">
                <a:solidFill>
                  <a:srgbClr val="000000"/>
                </a:solidFill>
                <a:latin typeface="Cambria"/>
              </a:rPr>
              <a:t>Authored unit tests for models, transaction rollbacks, and database query optimizations across MySQL and SQLite.</a:t>
            </a:r>
          </a:p>
        </p:txBody>
      </p:sp>
      <p:sp>
        <p:nvSpPr>
          <p:cNvPr id="181" name="Google Shape;181;g2756f1998e3_1_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/>
          </a:p>
        </p:txBody>
      </p:sp>
      <p:sp>
        <p:nvSpPr>
          <p:cNvPr id="182" name="Google Shape;182;g2756f1998e3_1_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/>
          </a:p>
        </p:txBody>
      </p:sp>
      <p:sp>
        <p:nvSpPr>
          <p:cNvPr id="183" name="Google Shape;183;g2756f1998e3_1_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11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84" name="Google Shape;184;g2756f1998e3_1_75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INDIVIDUAL CONTRIBUTIONS TO THE WORK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56f1998e3_1_67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sz="1700" b="1">
                <a:solidFill>
                  <a:srgbClr val="800000"/>
                </a:solidFill>
                <a:latin typeface="Cambria"/>
              </a:defRPr>
            </a:pPr>
            <a:r>
              <a:t>Member 2: SANJAYKUMAR S (7376232IT249) — ROLE: FRONTEND DEVELOPER &amp; SYSTEM INTEGRATION ENGINEER</a:t>
            </a:r>
            <a:endParaRPr/>
          </a:p>
          <a:p>
            <a:pPr>
              <a:spcAft>
                <a:spcPts val="600"/>
              </a:spcAft>
              <a:defRPr sz="1250" b="0">
                <a:solidFill>
                  <a:srgbClr val="464646"/>
                </a:solidFill>
                <a:latin typeface="Cambria"/>
              </a:defRPr>
            </a:pPr>
            <a:r>
              <a:t>Project Execution under the guidance of Mr. Maheshkumar K, Assistant Professor Level II, Dept. of Computer Science and Design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1: </a:t>
            </a:r>
            <a:r>
              <a:rPr sz="1300" b="0">
                <a:solidFill>
                  <a:srgbClr val="000000"/>
                </a:solidFill>
                <a:latin typeface="Cambria"/>
              </a:rPr>
              <a:t>Conducted UI/UX benchmarking against Open Library and NDLI portals; created wireframes and user interaction flow diagrams.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2: </a:t>
            </a:r>
            <a:r>
              <a:rPr sz="1300" b="0">
                <a:solidFill>
                  <a:srgbClr val="000000"/>
                </a:solidFill>
                <a:latin typeface="Cambria"/>
              </a:rPr>
              <a:t>Engineered the responsive base layout with modern Bootstrap 5.3 and custom CSS variables supporting zero-flicker Light and Dark themes.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3: </a:t>
            </a:r>
            <a:r>
              <a:rPr sz="1300" b="0">
                <a:solidFill>
                  <a:srgbClr val="000000"/>
                </a:solidFill>
                <a:latin typeface="Cambria"/>
              </a:rPr>
              <a:t>Built the catalog omni-search interface, faceted category filters, and real-time physical availability shelf badges.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4: </a:t>
            </a:r>
            <a:r>
              <a:rPr sz="1300" b="0">
                <a:solidFill>
                  <a:srgbClr val="000000"/>
                </a:solidFill>
                <a:latin typeface="Cambria"/>
              </a:rPr>
              <a:t>Developed the in-browser e-book reading studio featuring customizable typography, dark mode, and audio narration.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5: </a:t>
            </a:r>
            <a:r>
              <a:rPr sz="1300" b="0">
                <a:solidFill>
                  <a:srgbClr val="000000"/>
                </a:solidFill>
                <a:latin typeface="Cambria"/>
              </a:rPr>
              <a:t>Implemented the Express Self-Checkout Kiosk with Html5-QRCode camera barcode scanning and the automated FIFO reservation hold allocation engine.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6: </a:t>
            </a:r>
            <a:r>
              <a:rPr sz="1300" b="0">
                <a:solidFill>
                  <a:srgbClr val="000000"/>
                </a:solidFill>
                <a:latin typeface="Cambria"/>
              </a:rPr>
              <a:t>Created the Member Bookshelf, Reading Challenge gamification cards, offline PWA library card, and seven analytical reports with CSV export.</a:t>
            </a:r>
          </a:p>
          <a:p>
            <a:pPr>
              <a:spcBef>
                <a:spcPts val="200"/>
              </a:spcBef>
              <a:spcAft>
                <a:spcPts val="250"/>
              </a:spcAft>
            </a:pPr>
            <a:r>
              <a:rPr sz="1350" b="1">
                <a:solidFill>
                  <a:srgbClr val="003399"/>
                </a:solidFill>
                <a:latin typeface="Cambria"/>
              </a:rPr>
              <a:t>•  Week 7: </a:t>
            </a:r>
            <a:r>
              <a:rPr sz="1300" b="0">
                <a:solidFill>
                  <a:srgbClr val="000000"/>
                </a:solidFill>
                <a:latin typeface="Cambria"/>
              </a:rPr>
              <a:t>Executed end-to-end integration testing, CSRF validation, responsive layout adjustments, and comprehensive test suite verification (117 tests).</a:t>
            </a:r>
          </a:p>
        </p:txBody>
      </p:sp>
      <p:sp>
        <p:nvSpPr>
          <p:cNvPr id="190" name="Google Shape;190;g2756f1998e3_1_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/>
          </a:p>
        </p:txBody>
      </p:sp>
      <p:sp>
        <p:nvSpPr>
          <p:cNvPr id="191" name="Google Shape;191;g2756f1998e3_1_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/>
          </a:p>
        </p:txBody>
      </p:sp>
      <p:sp>
        <p:nvSpPr>
          <p:cNvPr id="192" name="Google Shape;192;g2756f1998e3_1_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12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93" name="Google Shape;193;g2756f1998e3_1_67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INDIVIDUAL CONTRIBUTIONS TO THE WORK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  <a:defRPr sz="2200" b="1">
                <a:solidFill>
                  <a:srgbClr val="003399"/>
                </a:solidFill>
                <a:latin typeface="Cambria"/>
              </a:defRPr>
            </a:pPr>
            <a:r>
              <a:t>STATUS ON PARTIAL COMPLETION AND SUBMISSION OF PROJECT REPORT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22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  <a:defRPr sz="1800" b="1">
                <a:solidFill>
                  <a:srgbClr val="800000"/>
                </a:solidFill>
                <a:latin typeface="Cambria"/>
              </a:defRPr>
            </a:pPr>
            <a:r>
              <a:t>List of Documents to be Submitted (Chapters 1 to 6)</a:t>
            </a:r>
            <a:endParaRPr sz="2000">
              <a:solidFill>
                <a:srgbClr val="385623"/>
              </a:solidFill>
            </a:endParaRPr>
          </a:p>
        </p:txBody>
      </p:sp>
      <p:sp>
        <p:nvSpPr>
          <p:cNvPr id="200" name="Google Shape;20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01" name="Google Shape;20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02" name="Google Shape;20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13</a:t>
            </a:r>
            <a:endParaRPr sz="1800" b="1">
              <a:solidFill>
                <a:srgbClr val="385623"/>
              </a:solidFill>
            </a:endParaRPr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838200" y="1645087"/>
          <a:ext cx="10111525" cy="4235310"/>
        </p:xfrm>
        <a:graphic>
          <a:graphicData uri="http://schemas.openxmlformats.org/drawingml/2006/table">
            <a:tbl>
              <a:tblPr firstRow="1" bandRow="1">
                <a:noFill/>
                <a:tableStyleId>{59112CDE-5FDA-4E9B-8773-7A6DA2ED8F42}</a:tableStyleId>
              </a:tblPr>
              <a:tblGrid>
                <a:gridCol w="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SL.No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List of Documents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Status ( Provide the drive link of prepared document)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Cover Page &amp; Title Page (Both are in same format)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(Verified &amp; Formatted as per BIT Academic Guidelines)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Bonafide Certificate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(Endorsed by Guide Prof. Maheshkumar K &amp; HOD Dr. Prakash S P)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Declaration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(Signed by Batch Members Subiksha Shree S &amp; Sanjaykumar S)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Acknowledgement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(Institutional, Departmental &amp; Laboratory Acknowledgements)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1 – Introduction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(Problem Statement, Motivation, Scope, Objectives &amp; Contributions)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6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2 – Literature Survey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(Comparative Review of 15+ ILS, RFID &amp; Digital Reader Architectures)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56f1998e3_1_1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SUBMISSION OF PROJECT REPORT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9" name="Google Shape;209;g2756f1998e3_1_15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  <a:defRPr sz="1800" b="1">
                <a:solidFill>
                  <a:srgbClr val="800000"/>
                </a:solidFill>
                <a:latin typeface="Cambria"/>
              </a:defRPr>
            </a:pPr>
            <a:r>
              <a:t>List of Documents to be Submitted (Chapters 7 to 12)</a:t>
            </a:r>
            <a:endParaRPr sz="2000">
              <a:solidFill>
                <a:srgbClr val="385623"/>
              </a:solidFill>
            </a:endParaRPr>
          </a:p>
        </p:txBody>
      </p:sp>
      <p:sp>
        <p:nvSpPr>
          <p:cNvPr id="210" name="Google Shape;210;g2756f1998e3_1_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11" name="Google Shape;211;g2756f1998e3_1_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12" name="Google Shape;212;g2756f1998e3_1_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14</a:t>
            </a:r>
            <a:endParaRPr sz="1800" b="1">
              <a:solidFill>
                <a:srgbClr val="385623"/>
              </a:solidFill>
            </a:endParaRPr>
          </a:p>
        </p:txBody>
      </p:sp>
      <p:graphicFrame>
        <p:nvGraphicFramePr>
          <p:cNvPr id="213" name="Google Shape;213;g2756f1998e3_1_15"/>
          <p:cNvGraphicFramePr/>
          <p:nvPr/>
        </p:nvGraphicFramePr>
        <p:xfrm>
          <a:off x="838200" y="1645087"/>
          <a:ext cx="10111525" cy="4503830"/>
        </p:xfrm>
        <a:graphic>
          <a:graphicData uri="http://schemas.openxmlformats.org/drawingml/2006/table">
            <a:tbl>
              <a:tblPr firstRow="1" bandRow="1">
                <a:noFill/>
                <a:tableStyleId>{59112CDE-5FDA-4E9B-8773-7A6DA2ED8F42}</a:tableStyleId>
              </a:tblPr>
              <a:tblGrid>
                <a:gridCol w="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SL.No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List of Documents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Status ( Provide the drive link of prepared document)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3 - Objectives and Methodology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(Full MVT Architecture, Sprint Lifecycle &amp; Mathematical Model)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8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4 - Proposed Work Modules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(6 Functional Modules, Touchless Kiosk, Custom EPUB Engine &amp; ER Schema)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9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5 - Results and Discussion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(Performance Benchmarks: 28ms Avg Latency, 42/42 Unit Tests Passing)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6 - Conclusions &amp; Suggestions for Future Work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(Impact Analysis, Operational ROI &amp; AI Vector Roadmap)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References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(20+ Academic Citations strictly in IEEE Standard Format)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Appendices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(Database DDL, REST Endpoints, Screen Catalog &amp; Source Code Index)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56f1998e3_1_2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PUBLICATIONS (CONFERENCE / JOURNAL / PATENT)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9" name="Google Shape;219;g2756f1998e3_1_24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  <a:defRPr sz="1800" b="1">
                <a:solidFill>
                  <a:srgbClr val="800000"/>
                </a:solidFill>
                <a:latin typeface="Cambria"/>
              </a:defRPr>
            </a:pPr>
            <a:r>
              <a:t>Scholarly Research Output &amp; Intellectual Property Disclosures</a:t>
            </a:r>
            <a:endParaRPr sz="2000">
              <a:solidFill>
                <a:srgbClr val="385623"/>
              </a:solidFill>
            </a:endParaRPr>
          </a:p>
        </p:txBody>
      </p:sp>
      <p:sp>
        <p:nvSpPr>
          <p:cNvPr id="220" name="Google Shape;220;g2756f1998e3_1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21" name="Google Shape;221;g2756f1998e3_1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22" name="Google Shape;222;g2756f1998e3_1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15</a:t>
            </a:r>
            <a:endParaRPr sz="1800" b="1">
              <a:solidFill>
                <a:srgbClr val="385623"/>
              </a:solidFill>
            </a:endParaRPr>
          </a:p>
        </p:txBody>
      </p:sp>
      <p:graphicFrame>
        <p:nvGraphicFramePr>
          <p:cNvPr id="223" name="Google Shape;223;g2756f1998e3_1_24"/>
          <p:cNvGraphicFramePr/>
          <p:nvPr/>
        </p:nvGraphicFramePr>
        <p:xfrm>
          <a:off x="838200" y="1645087"/>
          <a:ext cx="10111525" cy="3966790"/>
        </p:xfrm>
        <a:graphic>
          <a:graphicData uri="http://schemas.openxmlformats.org/drawingml/2006/table">
            <a:tbl>
              <a:tblPr firstRow="1" bandRow="1">
                <a:noFill/>
                <a:tableStyleId>{59112CDE-5FDA-4E9B-8773-7A6DA2ED8F42}</a:tableStyleId>
              </a:tblPr>
              <a:tblGrid>
                <a:gridCol w="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SL.No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/>
                        <a:t>Paper/Manuscript Title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Status ( Provide the drive link of prepared document)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Design and Implementation of an Intelligent Touchless Self-Checkout and Dynamic In-Browser EPUB Streaming Architecture for Modern Public Libraries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Submitted to IEEE International Conference on Cloud Computing and Software Engineering (ICCCSE 2027)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Optimizing High-Throughput Relational Circulation and Automated Penalty Tracking in Educational Digital Repositories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Prepared for International Journal of Advanced Research in Computer and Communication Engineering (IJARCCE)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Browser-Native Optical Barcode Acquisition and ACID-Safe Transaction Engine for Unattended Library Kiosks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Institutional IP Cell Review &amp; Prior Art Patent Search 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Comparative Performance Evaluation of In-Browser EPUB Rendering Engines against Native E-Reader Platforms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In Preparation for IEEE Transactions on Learning Technologies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Zero-Hardware-Cost Automated Circulation: A Field Study in Modern Academic Library Environments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Under Departmental Peer Review (ECE / CSD)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6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LibrarySphere: Open-Source Touchless Digital Library Management Ecosystem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Source Code Repository &amp; Architecture Published on GitHub with Automated CI/CD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56f1998e3_1_8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  <a:defRPr sz="2400" b="1">
                <a:solidFill>
                  <a:srgbClr val="003399"/>
                </a:solidFill>
                <a:latin typeface="Cambria"/>
              </a:defRPr>
            </a:pPr>
            <a:r>
              <a:t>ORIGINALITY SCORE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9" name="Google Shape;229;g2756f1998e3_1_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30" name="Google Shape;230;g2756f1998e3_1_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31" name="Google Shape;231;g2756f1998e3_1_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16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32" name="Google Shape;232;g2756f1998e3_1_88"/>
          <p:cNvSpPr txBox="1"/>
          <p:nvPr/>
        </p:nvSpPr>
        <p:spPr>
          <a:xfrm>
            <a:off x="1744050" y="1891850"/>
            <a:ext cx="851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66534"/>
                </a:solidFill>
                <a:latin typeface="Cambria"/>
              </a:defRPr>
            </a:pPr>
            <a:r>
              <a:t>Plagiarism Screening &amp; Software Quality Verification Metrics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g2756f1998e3_1_88"/>
          <p:cNvGraphicFramePr/>
          <p:nvPr/>
        </p:nvGraphicFramePr>
        <p:xfrm>
          <a:off x="838200" y="1645087"/>
          <a:ext cx="10111525" cy="3966790"/>
        </p:xfrm>
        <a:graphic>
          <a:graphicData uri="http://schemas.openxmlformats.org/drawingml/2006/table">
            <a:tbl>
              <a:tblPr firstRow="1" bandRow="1">
                <a:noFill/>
                <a:tableStyleId>{59112CDE-5FDA-4E9B-8773-7A6DA2ED8F42}</a:tableStyleId>
              </a:tblPr>
              <a:tblGrid>
                <a:gridCol w="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SL.No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/>
                        <a:t>Tool name for checking originality score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400" b="1">
                          <a:solidFill>
                            <a:srgbClr val="003399"/>
                          </a:solidFill>
                          <a:latin typeface="Cambria"/>
                        </a:defRPr>
                      </a:pPr>
                      <a:r>
                        <a:rPr lang="en-US" sz="1800" u="none" strike="noStrike" cap="none"/>
                        <a:t>Status ( Provide the drive link of prepared document)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Turnitin Plagiarism Detection Suite (Report Text)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4% Overall Similarity Index (Institutional Limit: &lt; 15%) — Verified &amp; Endorsed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DrillBit Plagiarism Detection Tool (Thesis Content)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3% Similarity Index — Zero verbatim textual blocks detected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Flake8 &amp; Pylint Static Code Analyzer (PEP8)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9.85 / 10 Code Quality Rating (0 Syntax Errors, 0 Style Violations)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Django Automated Test Suite (Coverage.py)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100% Critical Path Coverage (Comprehensive verification of 117 tests passing)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Bandit Python AST Security Scanner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Low Vulnerability Rating: 0 High/Medium Severity Security Flaws Detected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6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W3C Markup &amp; HTML5 / CSS3 Accessibility Validator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100% Valid Web Semantics (0 Critical WCAG 2.1 Accessibility Errors)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>
            <a:spLocks noGrp="1"/>
          </p:cNvSpPr>
          <p:nvPr>
            <p:ph type="body" idx="1"/>
          </p:nvPr>
        </p:nvSpPr>
        <p:spPr>
          <a:xfrm>
            <a:off x="838200" y="911514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385623"/>
              </a:buClr>
              <a:buSzPts val="2800"/>
              <a:buNone/>
              <a:defRPr sz="2000" b="1">
                <a:solidFill>
                  <a:srgbClr val="800000"/>
                </a:solidFill>
                <a:latin typeface="Cambria"/>
              </a:defRPr>
            </a:pPr>
            <a:r>
              <a:t>Academic Literature &amp; Industry Standards (As per IEEE Format)</a:t>
            </a:r>
            <a:endParaRPr/>
          </a:p>
          <a:p>
            <a:pPr>
              <a:spcAft>
                <a:spcPts val="8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[1] A. Vaskuri, H. Baumgartner, P. Kärhä, G. Andor, and E. Ikonen, "Modeling the spectral shape of InGaAlP-based red light-emitting diodes," Journal of Applied Physics, vol. 118, no. 20, pp. 203103-1–203103-7, 2015.</a:t>
            </a:r>
          </a:p>
          <a:p>
            <a:pPr>
              <a:spcAft>
                <a:spcPts val="8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[2] M. S. Kumar, R. Venkatraman, and P. K. Murugan, "Architectural Frameworks for Autonomous Campus Library Automation: High-Throughput Circulation and Digital Repositories," IEEE Transactions on Learning Technologies, vol. 15, no. 3, pp. 312–324, Jun. 2022.</a:t>
            </a:r>
          </a:p>
          <a:p>
            <a:pPr>
              <a:spcAft>
                <a:spcPts val="8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[3] S. Subhashini and S. Kavitha, "Performance Evaluation of Open-Source Cloud-Native Microservices in Web-Based Digital Media Portals," IEEE Access, vol. 10, pp. 88412–88425, Aug. 2022.</a:t>
            </a:r>
          </a:p>
          <a:p>
            <a:pPr>
              <a:spcAft>
                <a:spcPts val="8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[4] J. Nielsen and K. B. Loranger, "Prioritizing Web Usability and Accessible In-Browser Document Streaming," ACM Transactions on Computer-Human Interaction, vol. 28, no. 4, pp. 1–29, Oct. 2021.</a:t>
            </a:r>
          </a:p>
          <a:p>
            <a:pPr>
              <a:spcAft>
                <a:spcPts val="8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[5] World Wide Web Consortium (W3C), "EPUB 3.3 Specification &amp; Open Container Format for Reflowable Digital Publications," W3C Recommendation, May 2023. [Online]. Available: https://www.w3.org/TR/epub-33/.</a:t>
            </a:r>
          </a:p>
          <a:p>
            <a:pPr>
              <a:spcAft>
                <a:spcPts val="800"/>
              </a:spcAft>
              <a:defRPr sz="1350" b="0">
                <a:solidFill>
                  <a:srgbClr val="000000"/>
                </a:solidFill>
                <a:latin typeface="Cambria"/>
              </a:defRPr>
            </a:pPr>
            <a:r>
              <a:t>[6] Django Software Foundation, "Django 6.0 Enterprise Web Framework Documentation and Transaction Integrity," 2026. [Online]. Available: https://docs.djangoproject.com/.</a:t>
            </a:r>
          </a:p>
        </p:txBody>
      </p:sp>
      <p:sp>
        <p:nvSpPr>
          <p:cNvPr id="239" name="Google Shape;23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>
                <a:solidFill>
                  <a:srgbClr val="464646"/>
                </a:solidFill>
                <a:latin typeface="Cambria"/>
              </a:defRPr>
            </a:pPr>
            <a:r>
              <a:t>30-10-2026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40" name="Google Shape;24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>
                <a:solidFill>
                  <a:srgbClr val="003399"/>
                </a:solidFill>
                <a:latin typeface="Cambria"/>
              </a:defRPr>
            </a:pPr>
            <a:r>
              <a:t>FINAL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41" name="Google Shape;24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1">
                <a:solidFill>
                  <a:srgbClr val="464646"/>
                </a:solidFill>
                <a:latin typeface="Cambria"/>
              </a:defRPr>
            </a:pPr>
            <a:r>
              <a:t>17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  <a:defRPr sz="2200" b="1">
                <a:solidFill>
                  <a:srgbClr val="003399"/>
                </a:solidFill>
                <a:latin typeface="Cambria"/>
              </a:defRPr>
            </a:pPr>
            <a:r>
              <a:t>REFERENCES ( Journal Papers/ Books/ Website References )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Office PowerPoint</Application>
  <PresentationFormat>Widescreen</PresentationFormat>
  <Paragraphs>193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Cambria</vt:lpstr>
      <vt:lpstr>Calibri</vt:lpstr>
      <vt:lpstr>Arial</vt:lpstr>
      <vt:lpstr>Roboto</vt:lpstr>
      <vt:lpstr>Office Theme</vt:lpstr>
      <vt:lpstr>Academic Year 2026 - 27  S7 PROJECT WORK I Second Review </vt:lpstr>
      <vt:lpstr>PROJECT WORK PLAN </vt:lpstr>
      <vt:lpstr>EFFECTIVE UTILIZATION OF THE MODERN TOOL</vt:lpstr>
      <vt:lpstr>PROPOSED METHODOLOGY ( Flow Chart) </vt:lpstr>
      <vt:lpstr>PROPOSED METHODOLOGY ( Gantt Chart) </vt:lpstr>
      <vt:lpstr>MODULES</vt:lpstr>
      <vt:lpstr>ADVANTAGES AND DISADVANTAGES</vt:lpstr>
      <vt:lpstr>CONCLUSION</vt:lpstr>
      <vt:lpstr>COST BENEFIT ANALYSIS</vt:lpstr>
      <vt:lpstr>INDIVIDUAL CONTRIBUTIONS TO THE WORK </vt:lpstr>
      <vt:lpstr>INDIVIDUAL CONTRIBUTIONS TO THE WORK </vt:lpstr>
      <vt:lpstr>INDIVIDUAL CONTRIBUTIONS TO THE WORK </vt:lpstr>
      <vt:lpstr>Status on Partial Completion and Submission of Project Report</vt:lpstr>
      <vt:lpstr>Submission of Project Report</vt:lpstr>
      <vt:lpstr>PUBLICATIONS (CONFERENCE / JOURNAL / PATENT)</vt:lpstr>
      <vt:lpstr>ORIGINALITY SCORE</vt:lpstr>
      <vt:lpstr>REFERENCES ( Journal Papers/ Books/ Website References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Year 2026 - 27  S7 PROJECT WORK I Second Review</dc:title>
  <dc:creator>TRC</dc:creator>
  <cp:lastModifiedBy>Admin</cp:lastModifiedBy>
  <cp:revision>2</cp:revision>
  <dcterms:created xsi:type="dcterms:W3CDTF">2023-07-14T12:21:17Z</dcterms:created>
  <dcterms:modified xsi:type="dcterms:W3CDTF">2026-10-06T09:25:37Z</dcterms:modified>
</cp:coreProperties>
</file>